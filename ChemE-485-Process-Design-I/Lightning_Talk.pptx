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AFF44E-6489-40E9-B7F9-E4836DAF6170}" v="13" dt="2026-03-12T18:52:05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37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eien" userId="daacda521fd78511" providerId="LiveId" clId="{627A79D8-47FD-4F2A-AF8E-BB2EDB8A29F1}"/>
    <pc:docChg chg="custSel modSld">
      <pc:chgData name="Mark Heien" userId="daacda521fd78511" providerId="LiveId" clId="{627A79D8-47FD-4F2A-AF8E-BB2EDB8A29F1}" dt="2026-03-12T18:53:09.940" v="291" actId="20577"/>
      <pc:docMkLst>
        <pc:docMk/>
      </pc:docMkLst>
      <pc:sldChg chg="addSp delSp modSp mod">
        <pc:chgData name="Mark Heien" userId="daacda521fd78511" providerId="LiveId" clId="{627A79D8-47FD-4F2A-AF8E-BB2EDB8A29F1}" dt="2026-03-12T18:53:09.940" v="291" actId="20577"/>
        <pc:sldMkLst>
          <pc:docMk/>
          <pc:sldMk cId="0" sldId="256"/>
        </pc:sldMkLst>
        <pc:spChg chg="mod">
          <ac:chgData name="Mark Heien" userId="daacda521fd78511" providerId="LiveId" clId="{627A79D8-47FD-4F2A-AF8E-BB2EDB8A29F1}" dt="2026-03-12T18:21:45.851" v="49" actId="404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rk Heien" userId="daacda521fd78511" providerId="LiveId" clId="{627A79D8-47FD-4F2A-AF8E-BB2EDB8A29F1}" dt="2026-03-12T18:26:52.187" v="166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rk Heien" userId="daacda521fd78511" providerId="LiveId" clId="{627A79D8-47FD-4F2A-AF8E-BB2EDB8A29F1}" dt="2026-03-12T18:43:22.995" v="227" actId="1410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ark Heien" userId="daacda521fd78511" providerId="LiveId" clId="{627A79D8-47FD-4F2A-AF8E-BB2EDB8A29F1}" dt="2026-03-12T18:49:12.014" v="271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ark Heien" userId="daacda521fd78511" providerId="LiveId" clId="{627A79D8-47FD-4F2A-AF8E-BB2EDB8A29F1}" dt="2026-03-12T18:48:46.077" v="269" actId="14100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Mark Heien" userId="daacda521fd78511" providerId="LiveId" clId="{627A79D8-47FD-4F2A-AF8E-BB2EDB8A29F1}" dt="2026-03-12T18:33:03.734" v="178" actId="478"/>
          <ac:spMkLst>
            <pc:docMk/>
            <pc:sldMk cId="0" sldId="256"/>
            <ac:spMk id="31" creationId="{00000000-0000-0000-0000-000000000000}"/>
          </ac:spMkLst>
        </pc:spChg>
        <pc:spChg chg="add del mod">
          <ac:chgData name="Mark Heien" userId="daacda521fd78511" providerId="LiveId" clId="{627A79D8-47FD-4F2A-AF8E-BB2EDB8A29F1}" dt="2026-03-12T18:37:22.582" v="194"/>
          <ac:spMkLst>
            <pc:docMk/>
            <pc:sldMk cId="0" sldId="256"/>
            <ac:spMk id="37" creationId="{54673735-C939-4EAF-3D9C-018E0AFA057C}"/>
          </ac:spMkLst>
        </pc:spChg>
        <pc:spChg chg="add del mod">
          <ac:chgData name="Mark Heien" userId="daacda521fd78511" providerId="LiveId" clId="{627A79D8-47FD-4F2A-AF8E-BB2EDB8A29F1}" dt="2026-03-12T18:41:57.240" v="222"/>
          <ac:spMkLst>
            <pc:docMk/>
            <pc:sldMk cId="0" sldId="256"/>
            <ac:spMk id="38" creationId="{B23B113D-0780-4791-4A7F-32975CBB404C}"/>
          </ac:spMkLst>
        </pc:spChg>
        <pc:spChg chg="add del mod">
          <ac:chgData name="Mark Heien" userId="daacda521fd78511" providerId="LiveId" clId="{627A79D8-47FD-4F2A-AF8E-BB2EDB8A29F1}" dt="2026-03-12T18:46:17.009" v="257"/>
          <ac:spMkLst>
            <pc:docMk/>
            <pc:sldMk cId="0" sldId="256"/>
            <ac:spMk id="40" creationId="{445419F4-E590-FD94-D172-D1C4F1D19643}"/>
          </ac:spMkLst>
        </pc:spChg>
        <pc:spChg chg="add mod">
          <ac:chgData name="Mark Heien" userId="daacda521fd78511" providerId="LiveId" clId="{627A79D8-47FD-4F2A-AF8E-BB2EDB8A29F1}" dt="2026-03-12T18:51:29.833" v="282" actId="767"/>
          <ac:spMkLst>
            <pc:docMk/>
            <pc:sldMk cId="0" sldId="256"/>
            <ac:spMk id="42" creationId="{79C2E0ED-5FE4-B63E-50D9-A45ED92E49D1}"/>
          </ac:spMkLst>
        </pc:spChg>
        <pc:graphicFrameChg chg="mod modGraphic">
          <ac:chgData name="Mark Heien" userId="daacda521fd78511" providerId="LiveId" clId="{627A79D8-47FD-4F2A-AF8E-BB2EDB8A29F1}" dt="2026-03-12T18:48:39.507" v="268" actId="1076"/>
          <ac:graphicFrameMkLst>
            <pc:docMk/>
            <pc:sldMk cId="0" sldId="256"/>
            <ac:graphicFrameMk id="29" creationId="{00000000-0000-0000-0000-000000000000}"/>
          </ac:graphicFrameMkLst>
        </pc:graphicFrameChg>
        <pc:graphicFrameChg chg="add mod">
          <ac:chgData name="Mark Heien" userId="daacda521fd78511" providerId="LiveId" clId="{627A79D8-47FD-4F2A-AF8E-BB2EDB8A29F1}" dt="2026-03-12T18:20:55.680" v="0"/>
          <ac:graphicFrameMkLst>
            <pc:docMk/>
            <pc:sldMk cId="0" sldId="256"/>
            <ac:graphicFrameMk id="34" creationId="{8F706C6C-9642-8A4E-2E78-01A247DD800D}"/>
          </ac:graphicFrameMkLst>
        </pc:graphicFrameChg>
        <pc:graphicFrameChg chg="add mod modGraphic">
          <ac:chgData name="Mark Heien" userId="daacda521fd78511" providerId="LiveId" clId="{627A79D8-47FD-4F2A-AF8E-BB2EDB8A29F1}" dt="2026-03-12T18:41:54.953" v="220" actId="14100"/>
          <ac:graphicFrameMkLst>
            <pc:docMk/>
            <pc:sldMk cId="0" sldId="256"/>
            <ac:graphicFrameMk id="36" creationId="{0B6FA623-CBDE-4229-0ABF-88BFED94967C}"/>
          </ac:graphicFrameMkLst>
        </pc:graphicFrameChg>
        <pc:graphicFrameChg chg="add mod ord modGraphic">
          <ac:chgData name="Mark Heien" userId="daacda521fd78511" providerId="LiveId" clId="{627A79D8-47FD-4F2A-AF8E-BB2EDB8A29F1}" dt="2026-03-12T18:50:37.524" v="280" actId="167"/>
          <ac:graphicFrameMkLst>
            <pc:docMk/>
            <pc:sldMk cId="0" sldId="256"/>
            <ac:graphicFrameMk id="39" creationId="{ECDEEC0F-8676-34BD-0F2A-F0B0D303289C}"/>
          </ac:graphicFrameMkLst>
        </pc:graphicFrameChg>
        <pc:graphicFrameChg chg="add mod modGraphic">
          <ac:chgData name="Mark Heien" userId="daacda521fd78511" providerId="LiveId" clId="{627A79D8-47FD-4F2A-AF8E-BB2EDB8A29F1}" dt="2026-03-12T18:53:09.940" v="291" actId="20577"/>
          <ac:graphicFrameMkLst>
            <pc:docMk/>
            <pc:sldMk cId="0" sldId="256"/>
            <ac:graphicFrameMk id="41" creationId="{AA1CB6D3-7F08-A02E-E6FC-7104058F9AE7}"/>
          </ac:graphicFrameMkLst>
        </pc:graphicFrameChg>
        <pc:picChg chg="mod">
          <ac:chgData name="Mark Heien" userId="daacda521fd78511" providerId="LiveId" clId="{627A79D8-47FD-4F2A-AF8E-BB2EDB8A29F1}" dt="2026-03-12T18:48:58.796" v="270" actId="1076"/>
          <ac:picMkLst>
            <pc:docMk/>
            <pc:sldMk cId="0" sldId="256"/>
            <ac:picMk id="26" creationId="{00000000-0000-0000-0000-000000000000}"/>
          </ac:picMkLst>
        </pc:picChg>
        <pc:picChg chg="add mod">
          <ac:chgData name="Mark Heien" userId="daacda521fd78511" providerId="LiveId" clId="{627A79D8-47FD-4F2A-AF8E-BB2EDB8A29F1}" dt="2026-03-12T18:35:06.003" v="189" actId="14100"/>
          <ac:picMkLst>
            <pc:docMk/>
            <pc:sldMk cId="0" sldId="256"/>
            <ac:picMk id="35" creationId="{6C85AA9B-6558-1658-23E5-DC575C65D6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6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CDEEC0F-8676-34BD-0F2A-F0B0D3032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495418"/>
              </p:ext>
            </p:extLst>
          </p:nvPr>
        </p:nvGraphicFramePr>
        <p:xfrm>
          <a:off x="4554982" y="812593"/>
          <a:ext cx="4095242" cy="853607"/>
        </p:xfrm>
        <a:graphic>
          <a:graphicData uri="http://schemas.openxmlformats.org/drawingml/2006/table">
            <a:tbl>
              <a:tblPr/>
              <a:tblGrid>
                <a:gridCol w="4095242">
                  <a:extLst>
                    <a:ext uri="{9D8B030D-6E8A-4147-A177-3AD203B41FA5}">
                      <a16:colId xmlns:a16="http://schemas.microsoft.com/office/drawing/2014/main" val="118978448"/>
                    </a:ext>
                  </a:extLst>
                </a:gridCol>
              </a:tblGrid>
              <a:tr h="48784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At base oil prices, maximizing olefin recovery (&gt;95%) minimizes BTX MSP, but at low crude prices an interior optimum (~80%) emerges due to cryogenic separation OPEX.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967397"/>
                  </a:ext>
                </a:extLst>
              </a:tr>
              <a:tr h="295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74017277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59" y="109728"/>
            <a:ext cx="71357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CATALYTIC FAST PYROLYSIS OF MIXED PLASTIC WASTE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466344"/>
            <a:ext cx="8346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 Recovery Optimization for BTX Aromatics	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 Hadj Souleymane Sr, Tommy Yue, Michael Nguyen, Mark Heien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2E8F0"/>
                </a:solidFill>
              </a:rPr>
              <a:t>Yadav et al. (2023)
</a:t>
            </a:r>
            <a:r>
              <a:rPr lang="en-US" sz="800" dirty="0">
                <a:solidFill>
                  <a:srgbClr val="64748B"/>
                </a:solidFill>
              </a:rPr>
              <a:t>Energy Environ. Sci., 16, 3638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914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3886200" cy="548640"/>
          </a:xfrm>
          <a:prstGeom prst="rect">
            <a:avLst/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850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olefin recovery fraction affect BTX MSP — and how does crude oil price volatility shift the optimal design point?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3886200" cy="713232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5720" cy="71323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" y="1527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155448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OIL ($65/bbl</a:t>
            </a:r>
            <a:r>
              <a:rPr lang="en-US" sz="10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78308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Maximize recovery (&gt;95%). </a:t>
            </a:r>
            <a:r>
              <a:rPr lang="en-US" sz="1200" dirty="0">
                <a:solidFill>
                  <a:srgbClr val="E2E8F0"/>
                </a:solidFill>
              </a:rPr>
              <a:t>Olefin revenue exceeds marginal cryogenic cost. MSP: </a:t>
            </a:r>
            <a:r>
              <a:rPr lang="en-US" sz="1200" b="1" dirty="0">
                <a:solidFill>
                  <a:srgbClr val="A3E635"/>
                </a:solidFill>
              </a:rPr>
              <a:t>$1.07 → $1.00/kg </a:t>
            </a:r>
            <a:r>
              <a:rPr lang="en-US" sz="1100" dirty="0">
                <a:solidFill>
                  <a:srgbClr val="64748B"/>
                </a:solidFill>
              </a:rPr>
              <a:t>(−6.5%)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95144"/>
            <a:ext cx="3886200" cy="713232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45720" cy="71323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313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234086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OIL PRICE (&lt;$40/bbl</a:t>
            </a:r>
            <a:r>
              <a:rPr lang="en-US" sz="8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" y="25694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Interior optimum at ~80%. </a:t>
            </a:r>
            <a:r>
              <a:rPr lang="en-US" sz="1100" dirty="0">
                <a:solidFill>
                  <a:srgbClr val="E2E8F0"/>
                </a:solidFill>
              </a:rPr>
              <a:t>Cryogenic OPEX for ethylene (−103°C) not justified when co-product prices collapse.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" y="3831336"/>
            <a:ext cx="3886200" cy="502920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081528"/>
            <a:ext cx="45720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3099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312724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" y="33192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Recovery = secondary lever (−6%). </a:t>
            </a:r>
            <a:r>
              <a:rPr lang="en-US" sz="1050" dirty="0">
                <a:solidFill>
                  <a:srgbClr val="64748B"/>
                </a:solidFill>
              </a:rPr>
              <a:t>Refinery integration (−32%) and feedstock cost dominate.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68746" y="1422618"/>
            <a:ext cx="2975356" cy="1252002"/>
          </a:xfrm>
          <a:prstGeom prst="rect">
            <a:avLst/>
          </a:prstGeom>
          <a:solidFill>
            <a:srgbClr val="0F172A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90" y="1467142"/>
            <a:ext cx="2975356" cy="120170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131052" y="3113205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OPEX COMPARISON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175250" y="3300186"/>
            <a:ext cx="3827018" cy="1152941"/>
          </a:xfrm>
          <a:prstGeom prst="rect">
            <a:avLst/>
          </a:prstGeom>
          <a:solidFill>
            <a:srgbClr val="0F172A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722827"/>
              </p:ext>
            </p:extLst>
          </p:nvPr>
        </p:nvGraphicFramePr>
        <p:xfrm>
          <a:off x="5242306" y="3362881"/>
          <a:ext cx="3694429" cy="1102360"/>
        </p:xfrm>
        <a:graphic>
          <a:graphicData uri="http://schemas.openxmlformats.org/drawingml/2006/table">
            <a:tbl>
              <a:tblPr/>
              <a:tblGrid>
                <a:gridCol w="1192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06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(95%)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LOW-OIL (80%)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HIGH-OIL (99%)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Olefin sep. capital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capital investment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Olefin revenue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$M/yr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2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Olefin sep. utility cost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$M/yr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5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BTX MSP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$/kg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2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virgin BTX ($0.68/kg)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0" y="4526280"/>
            <a:ext cx="9144000" cy="914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6692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sensitivity  |  Seider cost scaling  |  Calibrated to $1.07/kg MSP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6C85AA9B-6558-1658-23E5-DC575C65D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722624"/>
            <a:ext cx="2928113" cy="945537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B6FA623-CBDE-4229-0ABF-88BFED949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332866"/>
              </p:ext>
            </p:extLst>
          </p:nvPr>
        </p:nvGraphicFramePr>
        <p:xfrm>
          <a:off x="44450" y="4761081"/>
          <a:ext cx="8957818" cy="647700"/>
        </p:xfrm>
        <a:graphic>
          <a:graphicData uri="http://schemas.openxmlformats.org/drawingml/2006/table">
            <a:tbl>
              <a:tblPr/>
              <a:tblGrid>
                <a:gridCol w="8957818">
                  <a:extLst>
                    <a:ext uri="{9D8B030D-6E8A-4147-A177-3AD203B41FA5}">
                      <a16:colId xmlns:a16="http://schemas.microsoft.com/office/drawing/2014/main" val="1840529594"/>
                    </a:ext>
                  </a:extLst>
                </a:gridCol>
              </a:tblGrid>
              <a:tr h="15640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Segoe UI" panose="020B0502040204020203" pitchFamily="34" charset="0"/>
                        </a:rPr>
                        <a:t>Olefin recovery is a secondary economic lever that improves feasibility at high oil prices, while crude‑price volatility motivates flexible recovery designs to control cost risk in plastic upcycling</a:t>
                      </a:r>
                      <a:r>
                        <a:rPr lang="en-US" sz="800" b="0" i="0" dirty="0">
                          <a:solidFill>
                            <a:schemeClr val="bg1"/>
                          </a:solidFill>
                          <a:effectLst/>
                          <a:highlight>
                            <a:srgbClr val="00FFFF"/>
                          </a:highlight>
                          <a:latin typeface="Segoe UI" panose="020B0502040204020203" pitchFamily="34" charset="0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76367"/>
                  </a:ext>
                </a:extLst>
              </a:tr>
              <a:tr h="20290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66484884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A1CB6D3-7F08-A02E-E6FC-7104058F9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23867"/>
              </p:ext>
            </p:extLst>
          </p:nvPr>
        </p:nvGraphicFramePr>
        <p:xfrm>
          <a:off x="4187951" y="1472911"/>
          <a:ext cx="1667001" cy="2171700"/>
        </p:xfrm>
        <a:graphic>
          <a:graphicData uri="http://schemas.openxmlformats.org/drawingml/2006/table">
            <a:tbl>
              <a:tblPr/>
              <a:tblGrid>
                <a:gridCol w="1667001">
                  <a:extLst>
                    <a:ext uri="{9D8B030D-6E8A-4147-A177-3AD203B41FA5}">
                      <a16:colId xmlns:a16="http://schemas.microsoft.com/office/drawing/2014/main" val="3581862625"/>
                    </a:ext>
                  </a:extLst>
                </a:gridCol>
              </a:tblGrid>
              <a:tr h="157424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1" i="0" dirty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Sensitivity Setup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1" i="0" dirty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Parameter Varied: Olefin recovery fraction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Range </a:t>
                      </a:r>
                      <a:r>
                        <a:rPr lang="en-US" sz="900" b="1" i="0" dirty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Explored: 0.80 – 0.99Method</a:t>
                      </a:r>
                      <a:r>
                        <a:rPr lang="en-US" sz="900" b="1" i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: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Python </a:t>
                      </a:r>
                      <a:r>
                        <a:rPr lang="en-US" sz="900" b="1" i="0" dirty="0">
                          <a:solidFill>
                            <a:srgbClr val="E20000"/>
                          </a:solidFill>
                          <a:effectLst/>
                          <a:latin typeface="Segoe UI" panose="020B0502040204020203" pitchFamily="34" charset="0"/>
                        </a:rPr>
                        <a:t>sensitivity sweep(economic model calibrated to $1.07/kg BTX MSP; Seider cost scaling)</a:t>
                      </a:r>
                      <a:endParaRPr lang="en-US" sz="900" b="0" i="0" dirty="0">
                        <a:solidFill>
                          <a:srgbClr val="E2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481629"/>
                  </a:ext>
                </a:extLst>
              </a:tr>
              <a:tr h="2884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261827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363</Words>
  <Application>Microsoft Office PowerPoint</Application>
  <PresentationFormat>On-screen Show (16:9)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CFP Olefin Recovery Optimization</dc:title>
  <dc:subject>PptxGenJS Presentation</dc:subject>
  <dc:creator>Mark</dc:creator>
  <cp:lastModifiedBy>Mark Heien</cp:lastModifiedBy>
  <cp:revision>2</cp:revision>
  <dcterms:created xsi:type="dcterms:W3CDTF">2026-03-12T17:36:02Z</dcterms:created>
  <dcterms:modified xsi:type="dcterms:W3CDTF">2026-03-12T18:53:11Z</dcterms:modified>
</cp:coreProperties>
</file>