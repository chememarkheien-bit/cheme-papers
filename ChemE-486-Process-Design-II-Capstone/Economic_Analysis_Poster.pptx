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Ethanol yield</c:v>
                </c:pt>
              </c:strCache>
            </c:strRef>
          </c:tx>
          <c:spPr>
            <a:ln w="25400" cap="flat">
              <a:solidFill>
                <a:srgbClr val="185FA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85FA5"/>
              </a:solidFill>
              <a:ln w="9525" cap="flat">
                <a:solidFill>
                  <a:srgbClr val="185FA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  (low)</c:v>
                </c:pt>
                <c:pt idx="1">
                  <c:v>-0.5</c:v>
                </c:pt>
                <c:pt idx="2">
                  <c:v>0  (base)</c:v>
                </c:pt>
                <c:pt idx="3">
                  <c:v>0.5</c:v>
                </c:pt>
                <c:pt idx="4">
                  <c:v>+1  (high)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1.49</c:v>
                </c:pt>
                <c:pt idx="1">
                  <c:v>1.7332000000000001</c:v>
                </c:pt>
                <c:pt idx="2">
                  <c:v>1.9763999999999999</c:v>
                </c:pt>
                <c:pt idx="3">
                  <c:v>2.1132</c:v>
                </c:pt>
                <c:pt idx="4">
                  <c:v>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62-4FBE-BC0B-4754389CEF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Discount rate (IRR)</c:v>
                </c:pt>
              </c:strCache>
            </c:strRef>
          </c:tx>
          <c:spPr>
            <a:ln w="25400" cap="flat">
              <a:solidFill>
                <a:srgbClr val="D85A3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85A30"/>
              </a:solidFill>
              <a:ln w="9525" cap="flat">
                <a:solidFill>
                  <a:srgbClr val="D85A3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  (low)</c:v>
                </c:pt>
                <c:pt idx="1">
                  <c:v>-0.5</c:v>
                </c:pt>
                <c:pt idx="2">
                  <c:v>0  (base)</c:v>
                </c:pt>
                <c:pt idx="3">
                  <c:v>0.5</c:v>
                </c:pt>
                <c:pt idx="4">
                  <c:v>+1  (high)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1.88</c:v>
                </c:pt>
                <c:pt idx="1">
                  <c:v>1.9281999999999999</c:v>
                </c:pt>
                <c:pt idx="2">
                  <c:v>1.9763999999999999</c:v>
                </c:pt>
                <c:pt idx="3">
                  <c:v>2.1781999999999999</c:v>
                </c:pt>
                <c:pt idx="4">
                  <c:v>2.38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62-4FBE-BC0B-4754389CEF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TCI ±30%</c:v>
                </c:pt>
              </c:strCache>
            </c:strRef>
          </c:tx>
          <c:spPr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  (low)</c:v>
                </c:pt>
                <c:pt idx="1">
                  <c:v>-0.5</c:v>
                </c:pt>
                <c:pt idx="2">
                  <c:v>0  (base)</c:v>
                </c:pt>
                <c:pt idx="3">
                  <c:v>0.5</c:v>
                </c:pt>
                <c:pt idx="4">
                  <c:v>+1  (high)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1.78</c:v>
                </c:pt>
                <c:pt idx="1">
                  <c:v>1.8782000000000001</c:v>
                </c:pt>
                <c:pt idx="2">
                  <c:v>1.9763999999999999</c:v>
                </c:pt>
                <c:pt idx="3">
                  <c:v>2.0731999999999999</c:v>
                </c:pt>
                <c:pt idx="4">
                  <c:v>2.17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62-4FBE-BC0B-4754389CEF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OPEX ±20%</c:v>
                </c:pt>
              </c:strCache>
            </c:strRef>
          </c:tx>
          <c:spPr>
            <a:ln w="25400" cap="flat">
              <a:solidFill>
                <a:srgbClr val="534AB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34AB7"/>
              </a:solidFill>
              <a:ln w="9525" cap="flat">
                <a:solidFill>
                  <a:srgbClr val="534AB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  (low)</c:v>
                </c:pt>
                <c:pt idx="1">
                  <c:v>-0.5</c:v>
                </c:pt>
                <c:pt idx="2">
                  <c:v>0  (base)</c:v>
                </c:pt>
                <c:pt idx="3">
                  <c:v>0.5</c:v>
                </c:pt>
                <c:pt idx="4">
                  <c:v>+1  (high)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1.86</c:v>
                </c:pt>
                <c:pt idx="1">
                  <c:v>1.9182000000000001</c:v>
                </c:pt>
                <c:pt idx="2">
                  <c:v>1.9763999999999999</c:v>
                </c:pt>
                <c:pt idx="3">
                  <c:v>2.0331999999999999</c:v>
                </c:pt>
                <c:pt idx="4">
                  <c:v>2.09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A62-4FBE-BC0B-4754389CEF7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Plant life</c:v>
                </c:pt>
              </c:strCache>
            </c:strRef>
          </c:tx>
          <c:spPr>
            <a:ln w="25400" cap="flat">
              <a:solidFill>
                <a:srgbClr val="BA751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A7517"/>
              </a:solidFill>
              <a:ln w="9525" cap="flat">
                <a:solidFill>
                  <a:srgbClr val="BA751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  (low)</c:v>
                </c:pt>
                <c:pt idx="1">
                  <c:v>-0.5</c:v>
                </c:pt>
                <c:pt idx="2">
                  <c:v>0  (base)</c:v>
                </c:pt>
                <c:pt idx="3">
                  <c:v>0.5</c:v>
                </c:pt>
                <c:pt idx="4">
                  <c:v>+1  (high)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1.87</c:v>
                </c:pt>
                <c:pt idx="1">
                  <c:v>1.9232</c:v>
                </c:pt>
                <c:pt idx="2">
                  <c:v>1.9763999999999999</c:v>
                </c:pt>
                <c:pt idx="3">
                  <c:v>2.0381999999999998</c:v>
                </c:pt>
                <c:pt idx="4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A62-4FBE-BC0B-4754389CEF7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Base MESP ($1.9764)</c:v>
                </c:pt>
              </c:strCache>
            </c:strRef>
          </c:tx>
          <c:spPr>
            <a:ln w="25400" cap="flat">
              <a:solidFill>
                <a:srgbClr val="88878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88780"/>
              </a:solidFill>
              <a:ln w="9525" cap="flat">
                <a:solidFill>
                  <a:srgbClr val="88878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  (low)</c:v>
                </c:pt>
                <c:pt idx="1">
                  <c:v>-0.5</c:v>
                </c:pt>
                <c:pt idx="2">
                  <c:v>0  (base)</c:v>
                </c:pt>
                <c:pt idx="3">
                  <c:v>0.5</c:v>
                </c:pt>
                <c:pt idx="4">
                  <c:v>+1  (high)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1.9763999999999999</c:v>
                </c:pt>
                <c:pt idx="1">
                  <c:v>1.9763999999999999</c:v>
                </c:pt>
                <c:pt idx="2">
                  <c:v>1.9763999999999999</c:v>
                </c:pt>
                <c:pt idx="3">
                  <c:v>1.9763999999999999</c:v>
                </c:pt>
                <c:pt idx="4">
                  <c:v>1.9763999999999999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A62-4FBE-BC0B-4754389CEF7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Market ($1.99)</c:v>
                </c:pt>
              </c:strCache>
            </c:strRef>
          </c:tx>
          <c:spPr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-1  (low)</c:v>
                </c:pt>
                <c:pt idx="1">
                  <c:v>-0.5</c:v>
                </c:pt>
                <c:pt idx="2">
                  <c:v>0  (base)</c:v>
                </c:pt>
                <c:pt idx="3">
                  <c:v>0.5</c:v>
                </c:pt>
                <c:pt idx="4">
                  <c:v>+1  (high)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1.99</c:v>
                </c:pt>
                <c:pt idx="1">
                  <c:v>1.99</c:v>
                </c:pt>
                <c:pt idx="2">
                  <c:v>1.99</c:v>
                </c:pt>
                <c:pt idx="3">
                  <c:v>1.99</c:v>
                </c:pt>
                <c:pt idx="4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A62-4FBE-BC0B-4754389CEF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F5F5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5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r>
                  <a:rPr lang="en-US" sz="750" b="0" i="0" u="none" strike="noStrike">
                    <a:solidFill>
                      <a:schemeClr val="tx1"/>
                    </a:solidFill>
                    <a:latin typeface="Arial"/>
                  </a:rPr>
                  <a:t>Normalized variable value  (−1 = low case  |  0 = base  |  +1 = high case)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65"/>
          <c:min val="1.25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666666"/>
                    </a:solidFill>
                    <a:latin typeface="Arial"/>
                  </a:rPr>
                  <a:t>MESP ($/gal)</a:t>
                </a:r>
              </a:p>
            </c:rich>
          </c:tx>
          <c:overlay val="0"/>
        </c:title>
        <c:numFmt formatCode="\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 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Electricity price</c:v>
                </c:pt>
                <c:pt idx="1">
                  <c:v>Retrofit credit</c:v>
                </c:pt>
                <c:pt idx="2">
                  <c:v>Enzyme cost</c:v>
                </c:pt>
                <c:pt idx="3">
                  <c:v>Feedstock cost</c:v>
                </c:pt>
                <c:pt idx="4">
                  <c:v>Feedstock moisture</c:v>
                </c:pt>
                <c:pt idx="5">
                  <c:v>Plant life</c:v>
                </c:pt>
                <c:pt idx="6">
                  <c:v>OPEX ±20%</c:v>
                </c:pt>
                <c:pt idx="7">
                  <c:v>TCI ±30%</c:v>
                </c:pt>
                <c:pt idx="8">
                  <c:v>Discount rate (IRR)</c:v>
                </c:pt>
                <c:pt idx="9">
                  <c:v>Ethanol yield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1.95</c:v>
                </c:pt>
                <c:pt idx="1">
                  <c:v>1.95</c:v>
                </c:pt>
                <c:pt idx="2">
                  <c:v>1.94</c:v>
                </c:pt>
                <c:pt idx="3">
                  <c:v>1.94</c:v>
                </c:pt>
                <c:pt idx="4">
                  <c:v>1.93</c:v>
                </c:pt>
                <c:pt idx="5">
                  <c:v>1.87</c:v>
                </c:pt>
                <c:pt idx="6">
                  <c:v>1.86</c:v>
                </c:pt>
                <c:pt idx="7">
                  <c:v>1.78</c:v>
                </c:pt>
                <c:pt idx="8">
                  <c:v>1.88</c:v>
                </c:pt>
                <c:pt idx="9">
                  <c:v>1.49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F-40E6-AD63-B384869D3D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Favorable → lower MESP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Electricity price</c:v>
                </c:pt>
                <c:pt idx="1">
                  <c:v>Retrofit credit</c:v>
                </c:pt>
                <c:pt idx="2">
                  <c:v>Enzyme cost</c:v>
                </c:pt>
                <c:pt idx="3">
                  <c:v>Feedstock cost</c:v>
                </c:pt>
                <c:pt idx="4">
                  <c:v>Feedstock moisture</c:v>
                </c:pt>
                <c:pt idx="5">
                  <c:v>Plant life</c:v>
                </c:pt>
                <c:pt idx="6">
                  <c:v>OPEX ±20%</c:v>
                </c:pt>
                <c:pt idx="7">
                  <c:v>TCI ±30%</c:v>
                </c:pt>
                <c:pt idx="8">
                  <c:v>Discount rate (IRR)</c:v>
                </c:pt>
                <c:pt idx="9">
                  <c:v>Ethanol yield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2.64E-2</c:v>
                </c:pt>
                <c:pt idx="1">
                  <c:v>2.64E-2</c:v>
                </c:pt>
                <c:pt idx="2">
                  <c:v>3.6400000000000002E-2</c:v>
                </c:pt>
                <c:pt idx="3">
                  <c:v>3.6400000000000002E-2</c:v>
                </c:pt>
                <c:pt idx="4">
                  <c:v>4.6399999999999997E-2</c:v>
                </c:pt>
                <c:pt idx="5">
                  <c:v>0.10639999999999999</c:v>
                </c:pt>
                <c:pt idx="6">
                  <c:v>0.1164</c:v>
                </c:pt>
                <c:pt idx="7">
                  <c:v>0.19639999999999999</c:v>
                </c:pt>
                <c:pt idx="8">
                  <c:v>9.64E-2</c:v>
                </c:pt>
                <c:pt idx="9">
                  <c:v>0.4864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5F-40E6-AD63-B384869D3D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Unfavorable → higher MESP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Electricity price</c:v>
                </c:pt>
                <c:pt idx="1">
                  <c:v>Retrofit credit</c:v>
                </c:pt>
                <c:pt idx="2">
                  <c:v>Enzyme cost</c:v>
                </c:pt>
                <c:pt idx="3">
                  <c:v>Feedstock cost</c:v>
                </c:pt>
                <c:pt idx="4">
                  <c:v>Feedstock moisture</c:v>
                </c:pt>
                <c:pt idx="5">
                  <c:v>Plant life</c:v>
                </c:pt>
                <c:pt idx="6">
                  <c:v>OPEX ±20%</c:v>
                </c:pt>
                <c:pt idx="7">
                  <c:v>TCI ±30%</c:v>
                </c:pt>
                <c:pt idx="8">
                  <c:v>Discount rate (IRR)</c:v>
                </c:pt>
                <c:pt idx="9">
                  <c:v>Ethanol yield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1.3599999999999999E-2</c:v>
                </c:pt>
                <c:pt idx="1">
                  <c:v>4.36E-2</c:v>
                </c:pt>
                <c:pt idx="2">
                  <c:v>4.36E-2</c:v>
                </c:pt>
                <c:pt idx="3">
                  <c:v>4.36E-2</c:v>
                </c:pt>
                <c:pt idx="4">
                  <c:v>6.3600000000000004E-2</c:v>
                </c:pt>
                <c:pt idx="5">
                  <c:v>0.1236</c:v>
                </c:pt>
                <c:pt idx="6">
                  <c:v>0.11360000000000001</c:v>
                </c:pt>
                <c:pt idx="7">
                  <c:v>0.19359999999999999</c:v>
                </c:pt>
                <c:pt idx="8">
                  <c:v>0.40360000000000001</c:v>
                </c:pt>
                <c:pt idx="9">
                  <c:v>0.27360000000000001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5F-40E6-AD63-B384869D3D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65"/>
          <c:min val="1.35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\$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B791F-9651-4E55-B017-89042CFEB1A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0B011-92E2-42A9-AD1E-D9AFD9AB6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5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1E52-B5A7-AC3A-7D29-964E61EEB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75564-40BC-6F52-016C-5FAC6CCCB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2BAC0-3CA7-6426-9BDC-A8F8F0AD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0E3B0-4955-C770-FE40-4F0F0AC0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A97A-4081-61DB-1037-570DEDC8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2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735A-4576-4A59-0092-4679C3C8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769F7-2FC4-BE5B-CDBA-46F1A8B7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978C1-3992-2E0D-2E0A-672F554C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A6F2E-464C-6D2B-58CF-E03B071A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49FEA-50FE-A244-7E86-BD1C9289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4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ED33-28EF-7391-7417-F1A1E736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919EF-7158-C4E3-0EF1-297599367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165E-828F-240A-0A07-D17AA69A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0E74F-650F-C517-0B26-410BC20A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E303A-8271-40E5-7D73-BC0F25EB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9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D085-F6ED-FFD3-383D-5BF92096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B64A0-DAED-5763-F979-C3E7972C7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90C30-D26D-3E6B-EAFA-B5E433DDE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6394F-CB3F-8A9F-A784-87F5F1B9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32F4-21C6-056B-A92E-0D7F442D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C4C29-E4FA-D062-6170-5C0FED4D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7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124B-6387-3FAD-5FC3-15BDA38D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02202-F2B8-58E5-9DE0-ED0B7240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19147-8319-9852-B2F8-A13D05BC2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F045D-CC09-5E21-FE74-1DE0A070C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D4C6F-1320-7289-3FBD-325A0D7C1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A4294-B04C-690C-D716-3E265C04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2126B-A12D-6305-71F5-22A92F85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503F8-646A-F747-C086-574B265C2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7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44FE-783E-0E3A-6B17-F3B5FACC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5354E-E56E-1C53-5F93-2F6E9FF9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2E97A-9506-8D53-236F-4ED8B4EC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0F3A3-AE66-F5AF-55F3-04AC5DD2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6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9F863-1E17-2D7E-E119-34C11ADF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C0749-24C3-54E6-6F53-CC669461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FE10C-4A72-61D4-6985-AAB636E6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7354-2848-8179-D5D2-964C3E22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AC013-A73F-80BF-E844-7D940B6DC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775F5-1A1A-71AD-E2C0-94F98607A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545E7-F13F-378C-9C39-A37C7F73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A6D25-220C-2108-EDBE-5877FC3B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66DDA-96BF-7B1E-715E-0EB3BA55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6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008A-7502-33E7-E383-E37AFEFE1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EFDF1-E5DF-4212-C844-ED8DD8D7A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5F0A3-25FB-46D8-EE84-3315BEDFB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08098-A912-1CB7-197E-F68BA74C6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8753F-6C4F-B88C-667A-BFE8B3A3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D34D6-88A2-5D02-D1D5-18C04E60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55A7-FFCF-27D9-2964-154C65D5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93E12-2347-94E1-70FC-F1ADEFE7B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A32E9-1005-131B-926A-9FCA4DC30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233F-BBB2-3C65-5D31-8A47638F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D081F-2C1F-AC0C-C952-1782A73B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8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E5080-3A22-BC08-631A-61936C590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DE3BD-BCC7-9651-4155-116EAEA78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BB325-554D-37A4-50E2-C8BED59BC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41FF-414E-07E2-1557-FE7C53BE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5A71-D215-E3AD-7314-EE5D6E1B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32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67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9202F-37E8-674C-772D-FABD20AB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736C6-C972-41BA-9060-464B36845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8B462-30C3-C44B-C85E-8344F3A34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1F85C-EE28-40BD-BEE4-AFADE560B96C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2C1E2-5E49-2158-7E51-DD4213E30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58DE6-9CC3-CBA7-BF4E-1AA6160B6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7B837-8D1E-416F-AA61-894773B07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9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38B9E450-E45F-FBA7-84D6-FE175B987502}"/>
              </a:ext>
            </a:extLst>
          </p:cNvPr>
          <p:cNvGrpSpPr/>
          <p:nvPr/>
        </p:nvGrpSpPr>
        <p:grpSpPr>
          <a:xfrm>
            <a:off x="97536" y="73152"/>
            <a:ext cx="11996928" cy="633984"/>
            <a:chOff x="73152" y="54864"/>
            <a:chExt cx="8997696" cy="475488"/>
          </a:xfrm>
        </p:grpSpPr>
        <p:sp>
          <p:nvSpPr>
            <p:cNvPr id="2" name="Shape 0"/>
            <p:cNvSpPr/>
            <p:nvPr/>
          </p:nvSpPr>
          <p:spPr>
            <a:xfrm>
              <a:off x="73152" y="54864"/>
              <a:ext cx="1242278" cy="475488"/>
            </a:xfrm>
            <a:prstGeom prst="roundRect">
              <a:avLst>
                <a:gd name="adj" fmla="val 9615"/>
              </a:avLst>
            </a:prstGeom>
            <a:solidFill>
              <a:srgbClr val="F3F0FA"/>
            </a:solidFill>
            <a:ln w="6350">
              <a:solidFill>
                <a:srgbClr val="DDCC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" name="Text 1"/>
            <p:cNvSpPr/>
            <p:nvPr/>
          </p:nvSpPr>
          <p:spPr>
            <a:xfrm>
              <a:off x="73152" y="73152"/>
              <a:ext cx="1242278" cy="285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867" b="1" dirty="0">
                  <a:solidFill>
                    <a:srgbClr val="4B2E8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$1.9764/gal</a:t>
              </a:r>
              <a:endParaRPr lang="en-US" sz="1867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3152" y="359176"/>
              <a:ext cx="1242278" cy="16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133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MESP</a:t>
              </a:r>
              <a:endParaRPr lang="en-US" sz="1133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1365722" y="54864"/>
              <a:ext cx="1242278" cy="475488"/>
            </a:xfrm>
            <a:prstGeom prst="roundRect">
              <a:avLst>
                <a:gd name="adj" fmla="val 9615"/>
              </a:avLst>
            </a:prstGeom>
            <a:solidFill>
              <a:srgbClr val="F3F0FA"/>
            </a:solidFill>
            <a:ln w="6350">
              <a:solidFill>
                <a:srgbClr val="DDCC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4"/>
            <p:cNvSpPr/>
            <p:nvPr/>
          </p:nvSpPr>
          <p:spPr>
            <a:xfrm>
              <a:off x="1365722" y="73152"/>
              <a:ext cx="1242278" cy="285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867" b="1" dirty="0">
                  <a:solidFill>
                    <a:srgbClr val="1D9E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$1.99/gal</a:t>
              </a:r>
              <a:endParaRPr lang="en-US" sz="1867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365722" y="359176"/>
              <a:ext cx="1242278" cy="16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133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Market price</a:t>
              </a:r>
              <a:endParaRPr lang="en-US" sz="1133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658291" y="54864"/>
              <a:ext cx="1242278" cy="475488"/>
            </a:xfrm>
            <a:prstGeom prst="roundRect">
              <a:avLst>
                <a:gd name="adj" fmla="val 9615"/>
              </a:avLst>
            </a:prstGeom>
            <a:solidFill>
              <a:srgbClr val="F3F0FA"/>
            </a:solidFill>
            <a:ln w="6350">
              <a:solidFill>
                <a:srgbClr val="DDCC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" name="Text 7"/>
            <p:cNvSpPr/>
            <p:nvPr/>
          </p:nvSpPr>
          <p:spPr>
            <a:xfrm>
              <a:off x="2658291" y="73152"/>
              <a:ext cx="1242278" cy="285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867" b="1" dirty="0">
                  <a:solidFill>
                    <a:srgbClr val="1D9E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+1.4¢/gal</a:t>
              </a:r>
              <a:endParaRPr lang="en-US" sz="1867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658291" y="359176"/>
              <a:ext cx="1242278" cy="16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133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Margin</a:t>
              </a:r>
              <a:endParaRPr lang="en-US" sz="1133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950861" y="54864"/>
              <a:ext cx="1242278" cy="475488"/>
            </a:xfrm>
            <a:prstGeom prst="roundRect">
              <a:avLst>
                <a:gd name="adj" fmla="val 9615"/>
              </a:avLst>
            </a:prstGeom>
            <a:solidFill>
              <a:srgbClr val="F3F0FA"/>
            </a:solidFill>
            <a:ln w="6350">
              <a:solidFill>
                <a:srgbClr val="DDCC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10"/>
            <p:cNvSpPr/>
            <p:nvPr/>
          </p:nvSpPr>
          <p:spPr>
            <a:xfrm>
              <a:off x="3950861" y="73152"/>
              <a:ext cx="1242278" cy="285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867" b="1" dirty="0">
                  <a:solidFill>
                    <a:srgbClr val="4B2E8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$636.7 M</a:t>
              </a:r>
              <a:endParaRPr lang="en-US" sz="1867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950861" y="359176"/>
              <a:ext cx="1242278" cy="16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133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TCI</a:t>
              </a:r>
              <a:endParaRPr lang="en-US" sz="1133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243431" y="54864"/>
              <a:ext cx="1242278" cy="475488"/>
            </a:xfrm>
            <a:prstGeom prst="roundRect">
              <a:avLst>
                <a:gd name="adj" fmla="val 9615"/>
              </a:avLst>
            </a:prstGeom>
            <a:solidFill>
              <a:srgbClr val="F3F0FA"/>
            </a:solidFill>
            <a:ln w="6350">
              <a:solidFill>
                <a:srgbClr val="DDCC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13"/>
            <p:cNvSpPr/>
            <p:nvPr/>
          </p:nvSpPr>
          <p:spPr>
            <a:xfrm>
              <a:off x="5243431" y="73152"/>
              <a:ext cx="1242278" cy="285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867" b="1" dirty="0">
                  <a:solidFill>
                    <a:srgbClr val="4B2E8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$606.3 M</a:t>
              </a:r>
              <a:endParaRPr lang="en-US" sz="1867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43431" y="359176"/>
              <a:ext cx="1242278" cy="16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133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FCI</a:t>
              </a:r>
              <a:endParaRPr lang="en-US" sz="1133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36001" y="54864"/>
              <a:ext cx="1242278" cy="475488"/>
            </a:xfrm>
            <a:prstGeom prst="roundRect">
              <a:avLst>
                <a:gd name="adj" fmla="val 9615"/>
              </a:avLst>
            </a:prstGeom>
            <a:solidFill>
              <a:srgbClr val="F3F0FA"/>
            </a:solidFill>
            <a:ln w="6350">
              <a:solidFill>
                <a:srgbClr val="DDCC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Text 16"/>
            <p:cNvSpPr/>
            <p:nvPr/>
          </p:nvSpPr>
          <p:spPr>
            <a:xfrm>
              <a:off x="6536001" y="73152"/>
              <a:ext cx="1242278" cy="285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867" b="1" dirty="0">
                  <a:solidFill>
                    <a:srgbClr val="4B2E8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$35.3 M/yr</a:t>
              </a:r>
              <a:endParaRPr lang="en-US" sz="1867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536001" y="359176"/>
              <a:ext cx="1242278" cy="16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133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Total OPEX</a:t>
              </a:r>
              <a:endParaRPr lang="en-US" sz="1133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828570" y="54864"/>
              <a:ext cx="1242278" cy="475488"/>
            </a:xfrm>
            <a:prstGeom prst="roundRect">
              <a:avLst>
                <a:gd name="adj" fmla="val 9615"/>
              </a:avLst>
            </a:prstGeom>
            <a:solidFill>
              <a:srgbClr val="F3F0FA"/>
            </a:solidFill>
            <a:ln w="6350">
              <a:solidFill>
                <a:srgbClr val="DDCCFF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19"/>
            <p:cNvSpPr/>
            <p:nvPr/>
          </p:nvSpPr>
          <p:spPr>
            <a:xfrm>
              <a:off x="7828570" y="73152"/>
              <a:ext cx="1242278" cy="285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867" b="1" dirty="0">
                  <a:solidFill>
                    <a:srgbClr val="185F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10% / $0</a:t>
              </a:r>
              <a:endParaRPr lang="en-US" sz="1867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828570" y="359176"/>
              <a:ext cx="1242278" cy="16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133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IRR / NPV</a:t>
              </a:r>
              <a:endParaRPr lang="en-US" sz="1133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6FA5B3D-DCA0-9CA4-E06A-E550EDBC0C76}"/>
              </a:ext>
            </a:extLst>
          </p:cNvPr>
          <p:cNvGrpSpPr/>
          <p:nvPr/>
        </p:nvGrpSpPr>
        <p:grpSpPr>
          <a:xfrm>
            <a:off x="97536" y="780288"/>
            <a:ext cx="11996928" cy="341376"/>
            <a:chOff x="73152" y="585216"/>
            <a:chExt cx="8997696" cy="256032"/>
          </a:xfrm>
        </p:grpSpPr>
        <p:sp>
          <p:nvSpPr>
            <p:cNvPr id="23" name="Shape 21"/>
            <p:cNvSpPr/>
            <p:nvPr/>
          </p:nvSpPr>
          <p:spPr>
            <a:xfrm>
              <a:off x="73152" y="585216"/>
              <a:ext cx="8997696" cy="256032"/>
            </a:xfrm>
            <a:prstGeom prst="rect">
              <a:avLst/>
            </a:prstGeom>
            <a:solidFill>
              <a:srgbClr val="E8F7F2"/>
            </a:solidFill>
            <a:ln w="1524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Shape 22"/>
            <p:cNvSpPr/>
            <p:nvPr/>
          </p:nvSpPr>
          <p:spPr>
            <a:xfrm>
              <a:off x="73152" y="585216"/>
              <a:ext cx="50292" cy="256032"/>
            </a:xfrm>
            <a:prstGeom prst="rect">
              <a:avLst/>
            </a:prstGeom>
            <a:solidFill>
              <a:srgbClr val="1D9E75"/>
            </a:solidFill>
            <a:ln w="1270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5" name="Text 23"/>
          <p:cNvSpPr/>
          <p:nvPr/>
        </p:nvSpPr>
        <p:spPr>
          <a:xfrm>
            <a:off x="219456" y="780288"/>
            <a:ext cx="118506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MESP (1.9764/gal) &lt; Market(1.99/gal) — Viable at 10% IRR.  WA Clean Fuel Standard + D3 RIN credits provide additional upside not in base MESP.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73152" y="1207008"/>
            <a:ext cx="5181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2.  Sensitivity Analysis — Star (Volcano) Plot</a:t>
            </a:r>
            <a:endParaRPr lang="en-US" sz="1133" dirty="0"/>
          </a:p>
          <a:p>
            <a:r>
              <a:rPr lang="en-US" sz="11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variables  |  Steep slope = high leverage on MESP</a:t>
            </a:r>
            <a:endParaRPr lang="en-US" sz="1133" dirty="0"/>
          </a:p>
        </p:txBody>
      </p:sp>
      <p:sp>
        <p:nvSpPr>
          <p:cNvPr id="27" name="Text 25"/>
          <p:cNvSpPr/>
          <p:nvPr/>
        </p:nvSpPr>
        <p:spPr>
          <a:xfrm>
            <a:off x="5462016" y="1207008"/>
            <a:ext cx="619353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1.  Sensitivity Analysis — Tornado Plot</a:t>
            </a:r>
            <a:endParaRPr lang="en-US" sz="1133" dirty="0"/>
          </a:p>
          <a:p>
            <a:r>
              <a:rPr lang="en-US" sz="113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MESP = $1.9764/gal  |  Market = $1.99/gal  |  Variables ranked by |Δ MESP|</a:t>
            </a:r>
            <a:endParaRPr lang="en-US" sz="1133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73152" y="1645920"/>
          <a:ext cx="51816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1"/>
          <p:cNvGraphicFramePr/>
          <p:nvPr/>
        </p:nvGraphicFramePr>
        <p:xfrm>
          <a:off x="5462016" y="1645920"/>
          <a:ext cx="5681472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41BC7E02-0824-DCA2-C2E2-0BB98583ED45}"/>
              </a:ext>
            </a:extLst>
          </p:cNvPr>
          <p:cNvGrpSpPr/>
          <p:nvPr/>
        </p:nvGrpSpPr>
        <p:grpSpPr>
          <a:xfrm>
            <a:off x="11180064" y="1801674"/>
            <a:ext cx="463296" cy="3971053"/>
            <a:chOff x="8385048" y="1351255"/>
            <a:chExt cx="347472" cy="3163366"/>
          </a:xfrm>
        </p:grpSpPr>
        <p:sp>
          <p:nvSpPr>
            <p:cNvPr id="30" name="Text 26"/>
            <p:cNvSpPr/>
            <p:nvPr/>
          </p:nvSpPr>
          <p:spPr>
            <a:xfrm>
              <a:off x="8385048" y="1351255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Δ$0.76</a:t>
              </a:r>
              <a:endParaRPr lang="en-US" sz="1067" dirty="0"/>
            </a:p>
          </p:txBody>
        </p:sp>
        <p:sp>
          <p:nvSpPr>
            <p:cNvPr id="31" name="Text 27"/>
            <p:cNvSpPr/>
            <p:nvPr/>
          </p:nvSpPr>
          <p:spPr>
            <a:xfrm>
              <a:off x="8385048" y="1676324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Δ$0.50</a:t>
              </a:r>
              <a:endParaRPr lang="en-US" sz="1067" dirty="0"/>
            </a:p>
          </p:txBody>
        </p:sp>
        <p:sp>
          <p:nvSpPr>
            <p:cNvPr id="32" name="Text 28"/>
            <p:cNvSpPr/>
            <p:nvPr/>
          </p:nvSpPr>
          <p:spPr>
            <a:xfrm>
              <a:off x="8385048" y="2001393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Δ$0.39</a:t>
              </a:r>
              <a:endParaRPr lang="en-US" sz="1067" dirty="0"/>
            </a:p>
          </p:txBody>
        </p:sp>
        <p:sp>
          <p:nvSpPr>
            <p:cNvPr id="33" name="Text 29"/>
            <p:cNvSpPr/>
            <p:nvPr/>
          </p:nvSpPr>
          <p:spPr>
            <a:xfrm>
              <a:off x="8385048" y="2326462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Δ$0.23</a:t>
              </a:r>
              <a:endParaRPr lang="en-US" sz="1067" dirty="0"/>
            </a:p>
          </p:txBody>
        </p:sp>
        <p:sp>
          <p:nvSpPr>
            <p:cNvPr id="34" name="Text 30"/>
            <p:cNvSpPr/>
            <p:nvPr/>
          </p:nvSpPr>
          <p:spPr>
            <a:xfrm>
              <a:off x="8385048" y="2651531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Δ$0.23</a:t>
              </a:r>
              <a:endParaRPr lang="en-US" sz="1067" dirty="0"/>
            </a:p>
          </p:txBody>
        </p:sp>
        <p:sp>
          <p:nvSpPr>
            <p:cNvPr id="35" name="Text 31"/>
            <p:cNvSpPr/>
            <p:nvPr/>
          </p:nvSpPr>
          <p:spPr>
            <a:xfrm>
              <a:off x="8385048" y="2976601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Δ$0.11</a:t>
              </a:r>
              <a:endParaRPr lang="en-US" sz="1067" dirty="0"/>
            </a:p>
          </p:txBody>
        </p:sp>
        <p:sp>
          <p:nvSpPr>
            <p:cNvPr id="36" name="Text 32"/>
            <p:cNvSpPr/>
            <p:nvPr/>
          </p:nvSpPr>
          <p:spPr>
            <a:xfrm>
              <a:off x="8385048" y="3301670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Δ$0.08</a:t>
              </a:r>
              <a:endParaRPr lang="en-US" sz="1067" dirty="0"/>
            </a:p>
          </p:txBody>
        </p:sp>
        <p:sp>
          <p:nvSpPr>
            <p:cNvPr id="37" name="Text 33"/>
            <p:cNvSpPr/>
            <p:nvPr/>
          </p:nvSpPr>
          <p:spPr>
            <a:xfrm>
              <a:off x="8385048" y="3626739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Δ$0.08</a:t>
              </a:r>
              <a:endParaRPr lang="en-US" sz="1067" dirty="0"/>
            </a:p>
          </p:txBody>
        </p:sp>
        <p:sp>
          <p:nvSpPr>
            <p:cNvPr id="38" name="Text 34"/>
            <p:cNvSpPr/>
            <p:nvPr/>
          </p:nvSpPr>
          <p:spPr>
            <a:xfrm>
              <a:off x="8385048" y="3951808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Δ$0.07</a:t>
              </a:r>
              <a:endParaRPr lang="en-US" sz="1067" dirty="0"/>
            </a:p>
          </p:txBody>
        </p:sp>
        <p:sp>
          <p:nvSpPr>
            <p:cNvPr id="39" name="Text 35"/>
            <p:cNvSpPr/>
            <p:nvPr/>
          </p:nvSpPr>
          <p:spPr>
            <a:xfrm>
              <a:off x="8385048" y="4276877"/>
              <a:ext cx="34747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67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Δ$0.04</a:t>
              </a:r>
              <a:endParaRPr lang="en-US" sz="1067" dirty="0"/>
            </a:p>
          </p:txBody>
        </p:sp>
      </p:grpSp>
      <p:sp>
        <p:nvSpPr>
          <p:cNvPr id="40" name="Text 36"/>
          <p:cNvSpPr/>
          <p:nvPr/>
        </p:nvSpPr>
        <p:spPr>
          <a:xfrm>
            <a:off x="7717536" y="1621536"/>
            <a:ext cx="140208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Base $1.9764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131064" y="6425429"/>
            <a:ext cx="518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line swept from low (−1) through base (0) to high (+1). Steeper slope = greater sensitivity. All lines intersect at base MESP.</a:t>
            </a:r>
            <a:r>
              <a:rPr lang="en-US" sz="800" dirty="0"/>
              <a:t>  </a:t>
            </a: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EconAnalysis_Final_v2.docx Table 5 / dw1910a.xlsm AP_SENSITIVITY.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5462016" y="6425429"/>
            <a:ext cx="6193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One-at-a-time sensitivity. Δ = total MESP swing. Blue bars = favorable (lower MESP); Orange = unfavorable (higher MESP).</a:t>
            </a:r>
            <a:endParaRPr lang="en-US" sz="800" dirty="0"/>
          </a:p>
          <a:p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NREL dw1910a.xlsm AP_SENSITIVITY; Humbird et al. (2011) NREL/TP-5100-47764.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285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Heien</dc:creator>
  <cp:lastModifiedBy>Mark Heien</cp:lastModifiedBy>
  <cp:revision>1</cp:revision>
  <dcterms:created xsi:type="dcterms:W3CDTF">2026-05-26T00:59:58Z</dcterms:created>
  <dcterms:modified xsi:type="dcterms:W3CDTF">2026-05-26T01:04:18Z</dcterms:modified>
</cp:coreProperties>
</file>