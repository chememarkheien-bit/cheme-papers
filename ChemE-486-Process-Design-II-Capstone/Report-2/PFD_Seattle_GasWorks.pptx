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4" autoAdjust="0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8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70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902E20EB-1B37-D1D5-A879-0AAAFB8F9A61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9052560" y="2211782"/>
            <a:ext cx="1554480" cy="531418"/>
          </a:xfrm>
          <a:prstGeom prst="bentConnector3">
            <a:avLst/>
          </a:prstGeom>
          <a:ln w="22860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Text 0"/>
          <p:cNvSpPr/>
          <p:nvPr/>
        </p:nvSpPr>
        <p:spPr>
          <a:xfrm>
            <a:off x="137160" y="73152"/>
            <a:ext cx="1179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37E"/>
                </a:solidFill>
              </a:rPr>
              <a:t>Process Flow Diagram — Pre-1937 Seattle Gas Works Coal Gasification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37160" y="402336"/>
            <a:ext cx="1179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</a:rPr>
              <a:t>Aspen Plus V14 Model Core  |  CHEME 486 Report 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371600" y="2766974"/>
            <a:ext cx="164592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RYIELD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Decomposition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2766974"/>
            <a:ext cx="128016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Mixer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852160" y="2921508"/>
            <a:ext cx="1033272" cy="0"/>
          </a:xfrm>
          <a:prstGeom prst="line">
            <a:avLst/>
          </a:prstGeom>
          <a:noFill/>
          <a:ln w="22860">
            <a:solidFill>
              <a:srgbClr val="1565C0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grpSp>
        <p:nvGrpSpPr>
          <p:cNvPr id="5000" name="R101_block"/>
          <p:cNvGrpSpPr/>
          <p:nvPr/>
        </p:nvGrpSpPr>
        <p:grpSpPr>
          <a:xfrm>
            <a:off x="1627094" y="750884"/>
            <a:ext cx="1645920" cy="2624328"/>
            <a:chOff x="1371600" y="713232"/>
            <a:chExt cx="1645920" cy="2624328"/>
          </a:xfrm>
        </p:grpSpPr>
        <p:sp>
          <p:nvSpPr>
            <p:cNvPr id="4" name="Shape 2"/>
            <p:cNvSpPr/>
            <p:nvPr/>
          </p:nvSpPr>
          <p:spPr>
            <a:xfrm>
              <a:off x="1371600" y="713232"/>
              <a:ext cx="1645920" cy="987552"/>
            </a:xfrm>
            <a:prstGeom prst="rect">
              <a:avLst/>
            </a:prstGeom>
            <a:solidFill>
              <a:srgbClr val="EDE7F6"/>
            </a:solidFill>
            <a:ln w="9525">
              <a:solidFill>
                <a:srgbClr val="7B68E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1371600" y="713232"/>
              <a:ext cx="1645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4A148C"/>
                  </a:solidFill>
                </a:rPr>
                <a:t>R-101 Conditions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435608" y="987552"/>
              <a:ext cx="151790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4A148C"/>
                  </a:solidFill>
                </a:rPr>
                <a:t>Type: RYIELD</a:t>
              </a:r>
              <a:endParaRPr lang="en-US" sz="85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435608" y="1170432"/>
              <a:ext cx="151790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4A148C"/>
                  </a:solidFill>
                </a:rPr>
                <a:t>T: 25°C (isothermal)</a:t>
              </a:r>
              <a:endParaRPr lang="en-US" sz="8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435608" y="1353312"/>
              <a:ext cx="151790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4A148C"/>
                  </a:solidFill>
                </a:rPr>
                <a:t>P: 1.013 bar</a:t>
              </a:r>
              <a:endParaRPr lang="en-US" sz="8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435608" y="1536192"/>
              <a:ext cx="151790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4A148C"/>
                  </a:solidFill>
                </a:rPr>
                <a:t>Yields: ultimate analysis</a:t>
              </a:r>
              <a:endParaRPr lang="en-US" sz="85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2194560" y="1700784"/>
              <a:ext cx="0" cy="448056"/>
            </a:xfrm>
            <a:prstGeom prst="line">
              <a:avLst/>
            </a:prstGeom>
            <a:noFill/>
            <a:ln w="9525">
              <a:solidFill>
                <a:srgbClr val="7B68EE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1371600" y="2148840"/>
              <a:ext cx="1645920" cy="1188720"/>
            </a:xfrm>
            <a:prstGeom prst="roundRect">
              <a:avLst>
                <a:gd name="adj" fmla="val 6923"/>
              </a:avLst>
            </a:prstGeom>
            <a:solidFill>
              <a:srgbClr val="7B68EE"/>
            </a:solidFill>
            <a:ln w="15240">
              <a:solidFill>
                <a:srgbClr val="26323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1371600" y="2203704"/>
              <a:ext cx="16459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R-101</a:t>
              </a:r>
              <a:endParaRPr lang="en-US" sz="1300" dirty="0"/>
            </a:p>
          </p:txBody>
        </p:sp>
      </p:grpSp>
      <p:grpSp>
        <p:nvGrpSpPr>
          <p:cNvPr id="5001" name="M101_block"/>
          <p:cNvGrpSpPr/>
          <p:nvPr/>
        </p:nvGrpSpPr>
        <p:grpSpPr>
          <a:xfrm>
            <a:off x="4572000" y="2148840"/>
            <a:ext cx="1280160" cy="1188720"/>
            <a:chOff x="4572000" y="2148840"/>
            <a:chExt cx="1280160" cy="1188720"/>
          </a:xfrm>
        </p:grpSpPr>
        <p:sp>
          <p:nvSpPr>
            <p:cNvPr id="21" name="Shape 19"/>
            <p:cNvSpPr/>
            <p:nvPr/>
          </p:nvSpPr>
          <p:spPr>
            <a:xfrm>
              <a:off x="4572000" y="2148840"/>
              <a:ext cx="1280160" cy="1188720"/>
            </a:xfrm>
            <a:prstGeom prst="roundRect">
              <a:avLst>
                <a:gd name="adj" fmla="val 6923"/>
              </a:avLst>
            </a:prstGeom>
            <a:solidFill>
              <a:srgbClr val="455A64"/>
            </a:solidFill>
            <a:ln w="15240">
              <a:solidFill>
                <a:srgbClr val="26323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4572000" y="2203704"/>
              <a:ext cx="128016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M-101</a:t>
              </a:r>
              <a:endParaRPr lang="en-US" sz="1300" dirty="0"/>
            </a:p>
          </p:txBody>
        </p:sp>
      </p:grpSp>
      <p:grpSp>
        <p:nvGrpSpPr>
          <p:cNvPr id="5002" name="R201_block"/>
          <p:cNvGrpSpPr/>
          <p:nvPr/>
        </p:nvGrpSpPr>
        <p:grpSpPr>
          <a:xfrm>
            <a:off x="7406640" y="713232"/>
            <a:ext cx="1645920" cy="2624328"/>
            <a:chOff x="7406640" y="713232"/>
            <a:chExt cx="1645920" cy="2624328"/>
          </a:xfrm>
        </p:grpSpPr>
        <p:sp>
          <p:nvSpPr>
            <p:cNvPr id="11" name="Shape 9"/>
            <p:cNvSpPr/>
            <p:nvPr/>
          </p:nvSpPr>
          <p:spPr>
            <a:xfrm>
              <a:off x="7406640" y="713232"/>
              <a:ext cx="1645920" cy="987552"/>
            </a:xfrm>
            <a:prstGeom prst="rect">
              <a:avLst/>
            </a:prstGeom>
            <a:solidFill>
              <a:srgbClr val="E3F2FD"/>
            </a:solidFill>
            <a:ln w="9525">
              <a:solidFill>
                <a:srgbClr val="1565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7406640" y="713232"/>
              <a:ext cx="1645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D47A1"/>
                  </a:solidFill>
                </a:rPr>
                <a:t>R-201 Conditions</a:t>
              </a:r>
              <a:endParaRPr lang="en-US" sz="9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7470648" y="987552"/>
              <a:ext cx="151790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0D47A1"/>
                  </a:solidFill>
                </a:rPr>
                <a:t>Type: RGIBBS</a:t>
              </a:r>
              <a:endParaRPr lang="en-US" sz="8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7470648" y="1170432"/>
              <a:ext cx="151790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0D47A1"/>
                  </a:solidFill>
                </a:rPr>
                <a:t>T: 1050°C</a:t>
              </a:r>
              <a:endParaRPr lang="en-US" sz="8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470648" y="1353312"/>
              <a:ext cx="151790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0D47A1"/>
                  </a:solidFill>
                </a:rPr>
                <a:t>P: 1.1 bar</a:t>
              </a:r>
              <a:endParaRPr lang="en-US" sz="8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470648" y="1536192"/>
              <a:ext cx="151790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0D47A1"/>
                  </a:solidFill>
                </a:rPr>
                <a:t>Products: 10 species</a:t>
              </a:r>
              <a:endParaRPr lang="en-US" sz="85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8229600" y="1700784"/>
              <a:ext cx="0" cy="448056"/>
            </a:xfrm>
            <a:prstGeom prst="line">
              <a:avLst/>
            </a:prstGeom>
            <a:noFill/>
            <a:ln w="9525">
              <a:solidFill>
                <a:srgbClr val="1565C0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22"/>
            <p:cNvSpPr/>
            <p:nvPr/>
          </p:nvSpPr>
          <p:spPr>
            <a:xfrm>
              <a:off x="7406640" y="2148840"/>
              <a:ext cx="1645920" cy="1188720"/>
            </a:xfrm>
            <a:prstGeom prst="roundRect">
              <a:avLst>
                <a:gd name="adj" fmla="val 6923"/>
              </a:avLst>
            </a:prstGeom>
            <a:solidFill>
              <a:srgbClr val="1565C0"/>
            </a:solidFill>
            <a:ln w="15240">
              <a:solidFill>
                <a:srgbClr val="26323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23"/>
            <p:cNvSpPr/>
            <p:nvPr/>
          </p:nvSpPr>
          <p:spPr>
            <a:xfrm>
              <a:off x="7406640" y="2203704"/>
              <a:ext cx="16459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R-201</a:t>
              </a:r>
              <a:endParaRPr lang="en-US" sz="1300" dirty="0"/>
            </a:p>
          </p:txBody>
        </p:sp>
      </p:grpSp>
      <p:grpSp>
        <p:nvGrpSpPr>
          <p:cNvPr id="5003" name="SCOAL_stream"/>
          <p:cNvGrpSpPr/>
          <p:nvPr/>
        </p:nvGrpSpPr>
        <p:grpSpPr>
          <a:xfrm>
            <a:off x="45720" y="1819656"/>
            <a:ext cx="1581374" cy="923544"/>
            <a:chOff x="45720" y="1819656"/>
            <a:chExt cx="1581374" cy="923544"/>
          </a:xfrm>
        </p:grpSpPr>
        <p:sp>
          <p:nvSpPr>
            <p:cNvPr id="27" name="Shape 25"/>
            <p:cNvSpPr/>
            <p:nvPr/>
          </p:nvSpPr>
          <p:spPr>
            <a:xfrm>
              <a:off x="45720" y="1819656"/>
              <a:ext cx="1417320" cy="6583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5D403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91440" y="1819656"/>
              <a:ext cx="13258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5D4037"/>
                  </a:solidFill>
                </a:rPr>
                <a:t>S-COAL</a:t>
              </a:r>
              <a:endParaRPr lang="en-US" sz="1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91440" y="2039112"/>
              <a:ext cx="13258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212121"/>
                  </a:solidFill>
                </a:rPr>
                <a:t>7,100 kg/hr</a:t>
              </a:r>
              <a:endParaRPr lang="en-US" sz="9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91440" y="2258568"/>
              <a:ext cx="13258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212121"/>
                  </a:solidFill>
                </a:rPr>
                <a:t>25°C | 1.013 bar</a:t>
              </a:r>
              <a:endParaRPr lang="en-US" sz="85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758952" y="2478024"/>
              <a:ext cx="0" cy="265176"/>
            </a:xfrm>
            <a:prstGeom prst="line">
              <a:avLst/>
            </a:prstGeom>
            <a:noFill/>
            <a:ln w="22860">
              <a:solidFill>
                <a:srgbClr val="5D403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Shape 30"/>
            <p:cNvSpPr/>
            <p:nvPr/>
          </p:nvSpPr>
          <p:spPr>
            <a:xfrm>
              <a:off x="758952" y="2743200"/>
              <a:ext cx="868142" cy="0"/>
            </a:xfrm>
            <a:prstGeom prst="line">
              <a:avLst/>
            </a:prstGeom>
            <a:noFill/>
            <a:ln w="22860">
              <a:solidFill>
                <a:srgbClr val="5D4037"/>
              </a:solidFill>
              <a:prstDash val="solid"/>
              <a:tailEnd type="none"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5004" name="SDECOMP_stream"/>
          <p:cNvGrpSpPr/>
          <p:nvPr/>
        </p:nvGrpSpPr>
        <p:grpSpPr>
          <a:xfrm>
            <a:off x="2194560" y="3337560"/>
            <a:ext cx="3017520" cy="1106424"/>
            <a:chOff x="2194560" y="3337560"/>
            <a:chExt cx="3017520" cy="1106424"/>
          </a:xfrm>
        </p:grpSpPr>
        <p:sp>
          <p:nvSpPr>
            <p:cNvPr id="33" name="Shape 31"/>
            <p:cNvSpPr/>
            <p:nvPr/>
          </p:nvSpPr>
          <p:spPr>
            <a:xfrm>
              <a:off x="2194560" y="3337560"/>
              <a:ext cx="0" cy="777240"/>
            </a:xfrm>
            <a:prstGeom prst="line">
              <a:avLst/>
            </a:prstGeom>
            <a:noFill/>
            <a:ln w="22860">
              <a:solidFill>
                <a:srgbClr val="7B68E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Shape 32"/>
            <p:cNvSpPr/>
            <p:nvPr/>
          </p:nvSpPr>
          <p:spPr>
            <a:xfrm>
              <a:off x="2194560" y="4114800"/>
              <a:ext cx="3017520" cy="0"/>
            </a:xfrm>
            <a:prstGeom prst="line">
              <a:avLst/>
            </a:prstGeom>
            <a:noFill/>
            <a:ln w="22860">
              <a:solidFill>
                <a:srgbClr val="7B68E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5212080" y="3337560"/>
              <a:ext cx="0" cy="777240"/>
            </a:xfrm>
            <a:prstGeom prst="line">
              <a:avLst/>
            </a:prstGeom>
            <a:noFill/>
            <a:ln w="22860">
              <a:solidFill>
                <a:srgbClr val="7B68EE"/>
              </a:solidFill>
              <a:prstDash val="solid"/>
              <a:tailEnd type="non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2304288" y="3785616"/>
              <a:ext cx="1417320" cy="6583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7B68E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2350008" y="3785616"/>
              <a:ext cx="132588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7B68EE"/>
                  </a:solidFill>
                </a:rPr>
                <a:t>S-DECOMP</a:t>
              </a:r>
              <a:endParaRPr lang="en-US" sz="95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2350008" y="4114800"/>
              <a:ext cx="132588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212121"/>
                  </a:solidFill>
                </a:rPr>
                <a:t>7,100 kg/hr | 25°C</a:t>
              </a:r>
              <a:endParaRPr lang="en-US" sz="850" dirty="0"/>
            </a:p>
          </p:txBody>
        </p:sp>
      </p:grpSp>
      <p:grpSp>
        <p:nvGrpSpPr>
          <p:cNvPr id="5005" name="SSTEAM_stream"/>
          <p:cNvGrpSpPr/>
          <p:nvPr/>
        </p:nvGrpSpPr>
        <p:grpSpPr>
          <a:xfrm>
            <a:off x="6172200" y="2921508"/>
            <a:ext cx="1417320" cy="1531620"/>
            <a:chOff x="6172200" y="2921508"/>
            <a:chExt cx="1417320" cy="1531620"/>
          </a:xfrm>
        </p:grpSpPr>
        <p:sp>
          <p:nvSpPr>
            <p:cNvPr id="39" name="Shape 37"/>
            <p:cNvSpPr/>
            <p:nvPr/>
          </p:nvSpPr>
          <p:spPr>
            <a:xfrm>
              <a:off x="6172200" y="3794760"/>
              <a:ext cx="1417320" cy="6583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565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38"/>
            <p:cNvSpPr/>
            <p:nvPr/>
          </p:nvSpPr>
          <p:spPr>
            <a:xfrm>
              <a:off x="6217920" y="3794760"/>
              <a:ext cx="13258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565C0"/>
                  </a:solidFill>
                </a:rPr>
                <a:t>S-STEAM</a:t>
              </a:r>
              <a:endParaRPr lang="en-US" sz="10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6217920" y="4014216"/>
              <a:ext cx="13258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212121"/>
                  </a:solidFill>
                </a:rPr>
                <a:t>9,000 kg/hr</a:t>
              </a:r>
              <a:endParaRPr lang="en-US" sz="9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6217920" y="4233672"/>
              <a:ext cx="13258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212121"/>
                  </a:solidFill>
                </a:rPr>
                <a:t>184°C | 10.3 bar</a:t>
              </a:r>
              <a:endParaRPr lang="en-US" sz="85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6885432" y="2921508"/>
              <a:ext cx="0" cy="873252"/>
            </a:xfrm>
            <a:prstGeom prst="line">
              <a:avLst/>
            </a:prstGeom>
            <a:noFill/>
            <a:ln w="22860">
              <a:solidFill>
                <a:srgbClr val="1565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06" name="SMIX_stream"/>
          <p:cNvGrpSpPr/>
          <p:nvPr/>
        </p:nvGrpSpPr>
        <p:grpSpPr>
          <a:xfrm>
            <a:off x="5852160" y="1883664"/>
            <a:ext cx="1554480" cy="859536"/>
            <a:chOff x="5852160" y="1883664"/>
            <a:chExt cx="1554480" cy="859536"/>
          </a:xfrm>
        </p:grpSpPr>
        <p:sp>
          <p:nvSpPr>
            <p:cNvPr id="45" name="Shape 43"/>
            <p:cNvSpPr/>
            <p:nvPr/>
          </p:nvSpPr>
          <p:spPr>
            <a:xfrm>
              <a:off x="5852160" y="2743200"/>
              <a:ext cx="1554480" cy="0"/>
            </a:xfrm>
            <a:prstGeom prst="line">
              <a:avLst/>
            </a:prstGeom>
            <a:noFill/>
            <a:ln w="22860">
              <a:solidFill>
                <a:srgbClr val="2E7D32"/>
              </a:solidFill>
              <a:prstDash val="solid"/>
              <a:tailEnd type="non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44"/>
            <p:cNvSpPr/>
            <p:nvPr/>
          </p:nvSpPr>
          <p:spPr>
            <a:xfrm>
              <a:off x="5916168" y="1883664"/>
              <a:ext cx="1417320" cy="6583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45"/>
            <p:cNvSpPr/>
            <p:nvPr/>
          </p:nvSpPr>
          <p:spPr>
            <a:xfrm>
              <a:off x="5961888" y="1883664"/>
              <a:ext cx="13258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2E7D32"/>
                  </a:solidFill>
                </a:rPr>
                <a:t>S-MIX</a:t>
              </a:r>
              <a:endParaRPr lang="en-US" sz="10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5961888" y="2103120"/>
              <a:ext cx="13258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212121"/>
                  </a:solidFill>
                </a:rPr>
                <a:t>16,100 kg/hr</a:t>
              </a:r>
              <a:endParaRPr lang="en-US" sz="9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5961888" y="2322576"/>
              <a:ext cx="13258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212121"/>
                  </a:solidFill>
                </a:rPr>
                <a:t>91°C | 1.013 bar</a:t>
              </a:r>
              <a:endParaRPr lang="en-US" sz="850" dirty="0"/>
            </a:p>
          </p:txBody>
        </p:sp>
      </p:grpSp>
      <p:sp>
        <p:nvSpPr>
          <p:cNvPr id="26" name="Text 24"/>
          <p:cNvSpPr/>
          <p:nvPr/>
        </p:nvSpPr>
        <p:spPr>
          <a:xfrm>
            <a:off x="7406640" y="2764114"/>
            <a:ext cx="1645920" cy="52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RGIBBS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Gasifier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0561320" y="1883664"/>
            <a:ext cx="1417320" cy="656236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607040" y="1883664"/>
            <a:ext cx="1325880" cy="218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</a:rPr>
              <a:t>S-RAWGAS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607040" y="2102409"/>
            <a:ext cx="1325880" cy="218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121"/>
                </a:solidFill>
              </a:rPr>
              <a:t>16,100 kg/hr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607040" y="2321155"/>
            <a:ext cx="1325880" cy="218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12121"/>
                </a:solidFill>
              </a:rPr>
              <a:t>1050°C | 1.1 bar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11247120" y="2539900"/>
            <a:ext cx="0" cy="1203100"/>
          </a:xfrm>
          <a:prstGeom prst="line">
            <a:avLst/>
          </a:prstGeom>
          <a:noFill/>
          <a:ln w="9525">
            <a:solidFill>
              <a:srgbClr val="2E7D32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B9D1FBA-2932-81DF-869F-8E93C11B5CC5}"/>
              </a:ext>
            </a:extLst>
          </p:cNvPr>
          <p:cNvGrpSpPr/>
          <p:nvPr/>
        </p:nvGrpSpPr>
        <p:grpSpPr>
          <a:xfrm>
            <a:off x="8453889" y="3743000"/>
            <a:ext cx="3570471" cy="1944568"/>
            <a:chOff x="8732520" y="3743000"/>
            <a:chExt cx="3291840" cy="194456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937CB536-0F6E-D251-243F-850C1D0C9275}"/>
                </a:ext>
              </a:extLst>
            </p:cNvPr>
            <p:cNvGrpSpPr/>
            <p:nvPr/>
          </p:nvGrpSpPr>
          <p:grpSpPr>
            <a:xfrm>
              <a:off x="8732520" y="4727356"/>
              <a:ext cx="3291840" cy="960212"/>
              <a:chOff x="8732520" y="4727356"/>
              <a:chExt cx="3291840" cy="960212"/>
            </a:xfrm>
          </p:grpSpPr>
          <p:sp>
            <p:nvSpPr>
              <p:cNvPr id="69" name="Shape 67"/>
              <p:cNvSpPr/>
              <p:nvPr/>
            </p:nvSpPr>
            <p:spPr>
              <a:xfrm>
                <a:off x="8732520" y="4727356"/>
                <a:ext cx="3291840" cy="237744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B0BEC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Text 69"/>
              <p:cNvSpPr/>
              <p:nvPr/>
            </p:nvSpPr>
            <p:spPr>
              <a:xfrm>
                <a:off x="9829800" y="4736592"/>
                <a:ext cx="100584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50800" rIns="2540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212121"/>
                    </a:solidFill>
                  </a:rPr>
                  <a:t>17.6%</a:t>
                </a:r>
                <a:endParaRPr lang="en-US" sz="900" dirty="0"/>
              </a:p>
            </p:txBody>
          </p:sp>
          <p:sp>
            <p:nvSpPr>
              <p:cNvPr id="72" name="Text 70"/>
              <p:cNvSpPr/>
              <p:nvPr/>
            </p:nvSpPr>
            <p:spPr>
              <a:xfrm>
                <a:off x="10835640" y="4736592"/>
                <a:ext cx="118872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50800" rIns="2540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212121"/>
                    </a:solidFill>
                  </a:rPr>
                  <a:t>3,428</a:t>
                </a:r>
                <a:endParaRPr lang="en-US" sz="900" dirty="0"/>
              </a:p>
            </p:txBody>
          </p:sp>
          <p:sp>
            <p:nvSpPr>
              <p:cNvPr id="73" name="Shape 71"/>
              <p:cNvSpPr/>
              <p:nvPr/>
            </p:nvSpPr>
            <p:spPr>
              <a:xfrm>
                <a:off x="8732520" y="4974336"/>
                <a:ext cx="3291840" cy="237744"/>
              </a:xfrm>
              <a:prstGeom prst="rect">
                <a:avLst/>
              </a:prstGeom>
              <a:solidFill>
                <a:srgbClr val="ECEFF1"/>
              </a:solidFill>
              <a:ln w="3810">
                <a:solidFill>
                  <a:srgbClr val="B0BEC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Text 73"/>
              <p:cNvSpPr/>
              <p:nvPr/>
            </p:nvSpPr>
            <p:spPr>
              <a:xfrm>
                <a:off x="9829800" y="4974336"/>
                <a:ext cx="100584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50800" rIns="2540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212121"/>
                    </a:solidFill>
                  </a:rPr>
                  <a:t>5.9%</a:t>
                </a:r>
                <a:endParaRPr lang="en-US" sz="900" dirty="0"/>
              </a:p>
            </p:txBody>
          </p:sp>
          <p:sp>
            <p:nvSpPr>
              <p:cNvPr id="76" name="Text 74"/>
              <p:cNvSpPr/>
              <p:nvPr/>
            </p:nvSpPr>
            <p:spPr>
              <a:xfrm>
                <a:off x="10835640" y="4974336"/>
                <a:ext cx="118872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50800" rIns="2540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212121"/>
                    </a:solidFill>
                  </a:rPr>
                  <a:t>2,808</a:t>
                </a:r>
                <a:endParaRPr lang="en-US" sz="900" dirty="0"/>
              </a:p>
            </p:txBody>
          </p:sp>
          <p:sp>
            <p:nvSpPr>
              <p:cNvPr id="77" name="Shape 75"/>
              <p:cNvSpPr/>
              <p:nvPr/>
            </p:nvSpPr>
            <p:spPr>
              <a:xfrm>
                <a:off x="8732520" y="5212080"/>
                <a:ext cx="3291840" cy="237744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B0BEC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Text 77"/>
              <p:cNvSpPr/>
              <p:nvPr/>
            </p:nvSpPr>
            <p:spPr>
              <a:xfrm>
                <a:off x="9829800" y="5212080"/>
                <a:ext cx="100584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50800" rIns="2540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212121"/>
                    </a:solidFill>
                  </a:rPr>
                  <a:t>0.2%</a:t>
                </a:r>
                <a:endParaRPr lang="en-US" sz="900" dirty="0"/>
              </a:p>
            </p:txBody>
          </p:sp>
          <p:sp>
            <p:nvSpPr>
              <p:cNvPr id="80" name="Text 78"/>
              <p:cNvSpPr/>
              <p:nvPr/>
            </p:nvSpPr>
            <p:spPr>
              <a:xfrm>
                <a:off x="10835640" y="5212080"/>
                <a:ext cx="118872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50800" rIns="2540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212121"/>
                    </a:solidFill>
                  </a:rPr>
                  <a:t>57</a:t>
                </a:r>
                <a:endParaRPr lang="en-US" sz="900" dirty="0"/>
              </a:p>
            </p:txBody>
          </p:sp>
          <p:sp>
            <p:nvSpPr>
              <p:cNvPr id="81" name="Shape 79"/>
              <p:cNvSpPr/>
              <p:nvPr/>
            </p:nvSpPr>
            <p:spPr>
              <a:xfrm>
                <a:off x="8732520" y="5449824"/>
                <a:ext cx="3291840" cy="237744"/>
              </a:xfrm>
              <a:prstGeom prst="rect">
                <a:avLst/>
              </a:prstGeom>
              <a:solidFill>
                <a:srgbClr val="ECEFF1"/>
              </a:solidFill>
              <a:ln w="3810">
                <a:solidFill>
                  <a:srgbClr val="B0BEC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Text 81"/>
              <p:cNvSpPr/>
              <p:nvPr/>
            </p:nvSpPr>
            <p:spPr>
              <a:xfrm>
                <a:off x="9829800" y="5449824"/>
                <a:ext cx="100584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50800" rIns="2540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212121"/>
                    </a:solidFill>
                  </a:rPr>
                  <a:t>14.89 kg/kmol</a:t>
                </a:r>
                <a:endParaRPr lang="en-US" sz="900" dirty="0"/>
              </a:p>
            </p:txBody>
          </p:sp>
          <p:sp>
            <p:nvSpPr>
              <p:cNvPr id="84" name="Text 82"/>
              <p:cNvSpPr/>
              <p:nvPr/>
            </p:nvSpPr>
            <p:spPr>
              <a:xfrm>
                <a:off x="10835640" y="5449824"/>
                <a:ext cx="118872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50800" rIns="25400" bIns="0" rtlCol="0" anchor="ctr"/>
              <a:lstStyle/>
              <a:p>
                <a:pPr marL="0" indent="0" algn="ctr">
                  <a:buNone/>
                </a:pPr>
                <a:endParaRPr lang="en-US" sz="900" dirty="0"/>
              </a:p>
            </p:txBody>
          </p:sp>
        </p:grpSp>
        <p:sp>
          <p:nvSpPr>
            <p:cNvPr id="55" name="Shape 53"/>
            <p:cNvSpPr/>
            <p:nvPr/>
          </p:nvSpPr>
          <p:spPr>
            <a:xfrm>
              <a:off x="8732520" y="3743000"/>
              <a:ext cx="3291840" cy="273432"/>
            </a:xfrm>
            <a:prstGeom prst="rect">
              <a:avLst/>
            </a:prstGeom>
            <a:solidFill>
              <a:srgbClr val="2E7D32"/>
            </a:solidFill>
            <a:ln w="635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 54"/>
            <p:cNvSpPr/>
            <p:nvPr/>
          </p:nvSpPr>
          <p:spPr>
            <a:xfrm>
              <a:off x="8732520" y="3743000"/>
              <a:ext cx="3291840" cy="2734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</a:rPr>
                <a:t>S-RAWGAS Equilibrium Composition</a:t>
              </a:r>
              <a:endParaRPr lang="en-US" sz="95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8732520" y="4016432"/>
              <a:ext cx="3291840" cy="236974"/>
            </a:xfrm>
            <a:prstGeom prst="rect">
              <a:avLst/>
            </a:prstGeom>
            <a:solidFill>
              <a:srgbClr val="CFD8DC"/>
            </a:solidFill>
            <a:ln w="3810">
              <a:solidFill>
                <a:srgbClr val="B0BEC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 56"/>
            <p:cNvSpPr/>
            <p:nvPr/>
          </p:nvSpPr>
          <p:spPr>
            <a:xfrm>
              <a:off x="8732520" y="4016432"/>
              <a:ext cx="1097280" cy="236974"/>
            </a:xfrm>
            <a:prstGeom prst="rect">
              <a:avLst/>
            </a:prstGeom>
            <a:noFill/>
            <a:ln/>
          </p:spPr>
          <p:txBody>
            <a:bodyPr wrap="square" lIns="0" tIns="50800" rIns="25400" bIns="0" rtlCol="0" anchor="ctr"/>
            <a:lstStyle/>
            <a:p>
              <a:pPr marL="0" indent="0" algn="l">
                <a:buNone/>
              </a:pPr>
              <a:r>
                <a:rPr lang="en-US" sz="850" b="1" dirty="0">
                  <a:solidFill>
                    <a:srgbClr val="263238"/>
                  </a:solidFill>
                </a:rPr>
                <a:t>    Component</a:t>
              </a:r>
              <a:endParaRPr lang="en-US" sz="85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9829800" y="4016432"/>
              <a:ext cx="1005840" cy="236974"/>
            </a:xfrm>
            <a:prstGeom prst="rect">
              <a:avLst/>
            </a:prstGeom>
            <a:noFill/>
            <a:ln/>
          </p:spPr>
          <p:txBody>
            <a:bodyPr wrap="square" lIns="0" tIns="50800" rIns="2540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263238"/>
                  </a:solidFill>
                </a:rPr>
                <a:t>Mol %</a:t>
              </a:r>
              <a:endParaRPr lang="en-US" sz="85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10835640" y="4016432"/>
              <a:ext cx="1188720" cy="236974"/>
            </a:xfrm>
            <a:prstGeom prst="rect">
              <a:avLst/>
            </a:prstGeom>
            <a:noFill/>
            <a:ln/>
          </p:spPr>
          <p:txBody>
            <a:bodyPr wrap="square" lIns="0" tIns="50800" rIns="2540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263238"/>
                  </a:solidFill>
                </a:rPr>
                <a:t>kg/hr</a:t>
              </a:r>
              <a:endParaRPr lang="en-US" sz="85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8732520" y="4253406"/>
              <a:ext cx="3291840" cy="236974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B0BEC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 60"/>
            <p:cNvSpPr/>
            <p:nvPr/>
          </p:nvSpPr>
          <p:spPr>
            <a:xfrm>
              <a:off x="8732520" y="4253406"/>
              <a:ext cx="1097280" cy="236974"/>
            </a:xfrm>
            <a:prstGeom prst="rect">
              <a:avLst/>
            </a:prstGeom>
            <a:noFill/>
            <a:ln/>
          </p:spPr>
          <p:txBody>
            <a:bodyPr wrap="square" lIns="0" tIns="50800" rIns="2540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212121"/>
                  </a:solidFill>
                </a:rPr>
                <a:t>    H₂</a:t>
              </a:r>
              <a:endParaRPr lang="en-US" sz="90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9829800" y="4253406"/>
              <a:ext cx="1005840" cy="236974"/>
            </a:xfrm>
            <a:prstGeom prst="rect">
              <a:avLst/>
            </a:prstGeom>
            <a:noFill/>
            <a:ln/>
          </p:spPr>
          <p:txBody>
            <a:bodyPr wrap="square" lIns="0" tIns="50800" rIns="2540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212121"/>
                  </a:solidFill>
                </a:rPr>
                <a:t>47.3%</a:t>
              </a:r>
              <a:endParaRPr lang="en-US" sz="900" dirty="0"/>
            </a:p>
          </p:txBody>
        </p:sp>
        <p:sp>
          <p:nvSpPr>
            <p:cNvPr id="64" name="Text 62"/>
            <p:cNvSpPr/>
            <p:nvPr/>
          </p:nvSpPr>
          <p:spPr>
            <a:xfrm>
              <a:off x="10835640" y="4253406"/>
              <a:ext cx="1188720" cy="236974"/>
            </a:xfrm>
            <a:prstGeom prst="rect">
              <a:avLst/>
            </a:prstGeom>
            <a:noFill/>
            <a:ln/>
          </p:spPr>
          <p:txBody>
            <a:bodyPr wrap="square" lIns="0" tIns="50800" rIns="2540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212121"/>
                  </a:solidFill>
                </a:rPr>
                <a:t>1,031</a:t>
              </a:r>
              <a:endParaRPr lang="en-US" sz="900" dirty="0"/>
            </a:p>
          </p:txBody>
        </p:sp>
        <p:sp>
          <p:nvSpPr>
            <p:cNvPr id="65" name="Shape 63"/>
            <p:cNvSpPr/>
            <p:nvPr/>
          </p:nvSpPr>
          <p:spPr>
            <a:xfrm>
              <a:off x="8732520" y="4490380"/>
              <a:ext cx="3291840" cy="236974"/>
            </a:xfrm>
            <a:prstGeom prst="rect">
              <a:avLst/>
            </a:prstGeom>
            <a:solidFill>
              <a:srgbClr val="ECEFF1"/>
            </a:solidFill>
            <a:ln w="3810">
              <a:solidFill>
                <a:srgbClr val="B0BEC5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" name="Text 64"/>
            <p:cNvSpPr/>
            <p:nvPr/>
          </p:nvSpPr>
          <p:spPr>
            <a:xfrm>
              <a:off x="8732520" y="4490380"/>
              <a:ext cx="1097280" cy="236974"/>
            </a:xfrm>
            <a:prstGeom prst="rect">
              <a:avLst/>
            </a:prstGeom>
            <a:noFill/>
            <a:ln/>
          </p:spPr>
          <p:txBody>
            <a:bodyPr wrap="square" lIns="0" tIns="50800" rIns="2540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212121"/>
                  </a:solidFill>
                </a:rPr>
                <a:t>    CO</a:t>
              </a:r>
              <a:endParaRPr lang="en-US" sz="900" dirty="0"/>
            </a:p>
          </p:txBody>
        </p:sp>
        <p:sp>
          <p:nvSpPr>
            <p:cNvPr id="67" name="Text 65"/>
            <p:cNvSpPr/>
            <p:nvPr/>
          </p:nvSpPr>
          <p:spPr>
            <a:xfrm>
              <a:off x="9829800" y="4490380"/>
              <a:ext cx="1005840" cy="236974"/>
            </a:xfrm>
            <a:prstGeom prst="rect">
              <a:avLst/>
            </a:prstGeom>
            <a:noFill/>
            <a:ln/>
          </p:spPr>
          <p:txBody>
            <a:bodyPr wrap="square" lIns="0" tIns="50800" rIns="2540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212121"/>
                  </a:solidFill>
                </a:rPr>
                <a:t>28.9%</a:t>
              </a:r>
              <a:endParaRPr lang="en-US" sz="900" dirty="0"/>
            </a:p>
          </p:txBody>
        </p:sp>
        <p:sp>
          <p:nvSpPr>
            <p:cNvPr id="68" name="Text 66"/>
            <p:cNvSpPr/>
            <p:nvPr/>
          </p:nvSpPr>
          <p:spPr>
            <a:xfrm>
              <a:off x="10835640" y="4490380"/>
              <a:ext cx="1188720" cy="236974"/>
            </a:xfrm>
            <a:prstGeom prst="rect">
              <a:avLst/>
            </a:prstGeom>
            <a:noFill/>
            <a:ln/>
          </p:spPr>
          <p:txBody>
            <a:bodyPr wrap="square" lIns="0" tIns="50800" rIns="2540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212121"/>
                  </a:solidFill>
                </a:rPr>
                <a:t>8,765</a:t>
              </a:r>
              <a:endParaRPr lang="en-US" sz="900" dirty="0"/>
            </a:p>
          </p:txBody>
        </p:sp>
        <p:sp>
          <p:nvSpPr>
            <p:cNvPr id="86" name="Shape 84"/>
            <p:cNvSpPr/>
            <p:nvPr/>
          </p:nvSpPr>
          <p:spPr>
            <a:xfrm>
              <a:off x="10378440" y="3743000"/>
              <a:ext cx="868680" cy="0"/>
            </a:xfrm>
            <a:prstGeom prst="line">
              <a:avLst/>
            </a:prstGeom>
            <a:noFill/>
            <a:ln w="9525">
              <a:solidFill>
                <a:srgbClr val="2E7D32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08" name="MassBalance"/>
          <p:cNvGrpSpPr/>
          <p:nvPr/>
        </p:nvGrpSpPr>
        <p:grpSpPr>
          <a:xfrm>
            <a:off x="137160" y="4617720"/>
            <a:ext cx="4115663" cy="1051560"/>
            <a:chOff x="137160" y="4617720"/>
            <a:chExt cx="4389120" cy="1051560"/>
          </a:xfrm>
        </p:grpSpPr>
        <p:sp>
          <p:nvSpPr>
            <p:cNvPr id="87" name="Shape 85"/>
            <p:cNvSpPr/>
            <p:nvPr/>
          </p:nvSpPr>
          <p:spPr>
            <a:xfrm>
              <a:off x="137160" y="4617720"/>
              <a:ext cx="4389120" cy="1051560"/>
            </a:xfrm>
            <a:prstGeom prst="rect">
              <a:avLst/>
            </a:prstGeom>
            <a:solidFill>
              <a:srgbClr val="F1F8E9"/>
            </a:solidFill>
            <a:ln w="9525">
              <a:solidFill>
                <a:srgbClr val="558B2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 86"/>
            <p:cNvSpPr/>
            <p:nvPr/>
          </p:nvSpPr>
          <p:spPr>
            <a:xfrm>
              <a:off x="137160" y="4617720"/>
              <a:ext cx="4389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33691E"/>
                  </a:solidFill>
                </a:rPr>
                <a:t>Mass Balance Summary</a:t>
              </a:r>
              <a:endParaRPr lang="en-US" sz="1000" dirty="0"/>
            </a:p>
          </p:txBody>
        </p:sp>
        <p:sp>
          <p:nvSpPr>
            <p:cNvPr id="89" name="Text 87"/>
            <p:cNvSpPr/>
            <p:nvPr/>
          </p:nvSpPr>
          <p:spPr>
            <a:xfrm>
              <a:off x="228600" y="4892040"/>
              <a:ext cx="42062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1B5E20"/>
                  </a:solidFill>
                  <a:ea typeface="Courier New" pitchFamily="34" charset="-122"/>
                  <a:cs typeface="Courier New" pitchFamily="34" charset="-120"/>
                </a:rPr>
                <a:t>Coal feed (S-COAL):       	 7,100 kg/hr</a:t>
              </a:r>
              <a:endParaRPr lang="en-US" sz="850" dirty="0"/>
            </a:p>
          </p:txBody>
        </p:sp>
        <p:sp>
          <p:nvSpPr>
            <p:cNvPr id="90" name="Text 88"/>
            <p:cNvSpPr/>
            <p:nvPr/>
          </p:nvSpPr>
          <p:spPr>
            <a:xfrm>
              <a:off x="228600" y="5074920"/>
              <a:ext cx="42062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1B5E20"/>
                  </a:solidFill>
                  <a:ea typeface="Courier New" pitchFamily="34" charset="-122"/>
                  <a:cs typeface="Courier New" pitchFamily="34" charset="-120"/>
                </a:rPr>
                <a:t>Steam feed (S-STEAM):     	 9,000 kg/hr</a:t>
              </a:r>
              <a:endParaRPr lang="en-US" sz="850" dirty="0"/>
            </a:p>
          </p:txBody>
        </p:sp>
        <p:sp>
          <p:nvSpPr>
            <p:cNvPr id="91" name="Text 89"/>
            <p:cNvSpPr/>
            <p:nvPr/>
          </p:nvSpPr>
          <p:spPr>
            <a:xfrm>
              <a:off x="228600" y="5257800"/>
              <a:ext cx="42062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1B5E20"/>
                  </a:solidFill>
                  <a:ea typeface="Courier New" pitchFamily="34" charset="-122"/>
                  <a:cs typeface="Courier New" pitchFamily="34" charset="-120"/>
                </a:rPr>
                <a:t>Total in:                		16,100 kg/hr</a:t>
              </a:r>
              <a:endParaRPr lang="en-US" sz="850" dirty="0"/>
            </a:p>
          </p:txBody>
        </p:sp>
        <p:sp>
          <p:nvSpPr>
            <p:cNvPr id="92" name="Text 90"/>
            <p:cNvSpPr/>
            <p:nvPr/>
          </p:nvSpPr>
          <p:spPr>
            <a:xfrm>
              <a:off x="228600" y="5440680"/>
              <a:ext cx="42062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1B5E20"/>
                  </a:solidFill>
                  <a:ea typeface="Courier New" pitchFamily="34" charset="-122"/>
                  <a:cs typeface="Courier New" pitchFamily="34" charset="-120"/>
                </a:rPr>
                <a:t>Raw gas (S-RAWGAS):      	16,100 kg/</a:t>
              </a:r>
              <a:r>
                <a:rPr lang="en-US" sz="850" dirty="0" err="1">
                  <a:solidFill>
                    <a:srgbClr val="1B5E20"/>
                  </a:solidFill>
                  <a:ea typeface="Courier New" pitchFamily="34" charset="-122"/>
                  <a:cs typeface="Courier New" pitchFamily="34" charset="-120"/>
                </a:rPr>
                <a:t>hr</a:t>
              </a:r>
              <a:r>
                <a:rPr lang="en-US" sz="850" dirty="0">
                  <a:solidFill>
                    <a:srgbClr val="1B5E20"/>
                  </a:solidFill>
                  <a:ea typeface="Courier New" pitchFamily="34" charset="-122"/>
                  <a:cs typeface="Courier New" pitchFamily="34" charset="-120"/>
                </a:rPr>
                <a:t>  	✓ 0.0%</a:t>
              </a:r>
              <a:endParaRPr lang="en-US" sz="850" dirty="0"/>
            </a:p>
          </p:txBody>
        </p:sp>
      </p:grpSp>
      <p:grpSp>
        <p:nvGrpSpPr>
          <p:cNvPr id="5009" name="DesignSpec"/>
          <p:cNvGrpSpPr/>
          <p:nvPr/>
        </p:nvGrpSpPr>
        <p:grpSpPr>
          <a:xfrm>
            <a:off x="4468483" y="4617720"/>
            <a:ext cx="5361317" cy="1069848"/>
            <a:chOff x="4663440" y="4617720"/>
            <a:chExt cx="5166360" cy="1069848"/>
          </a:xfrm>
        </p:grpSpPr>
        <p:sp>
          <p:nvSpPr>
            <p:cNvPr id="70" name="Text 68"/>
            <p:cNvSpPr/>
            <p:nvPr/>
          </p:nvSpPr>
          <p:spPr>
            <a:xfrm>
              <a:off x="8732520" y="4736592"/>
              <a:ext cx="1097280" cy="237744"/>
            </a:xfrm>
            <a:prstGeom prst="rect">
              <a:avLst/>
            </a:prstGeom>
            <a:noFill/>
            <a:ln/>
          </p:spPr>
          <p:txBody>
            <a:bodyPr wrap="square" lIns="0" tIns="50800" rIns="2540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212121"/>
                  </a:solidFill>
                </a:rPr>
                <a:t>    H₂O</a:t>
              </a:r>
              <a:endParaRPr lang="en-US" sz="900" dirty="0"/>
            </a:p>
          </p:txBody>
        </p:sp>
        <p:sp>
          <p:nvSpPr>
            <p:cNvPr id="74" name="Text 72"/>
            <p:cNvSpPr/>
            <p:nvPr/>
          </p:nvSpPr>
          <p:spPr>
            <a:xfrm>
              <a:off x="8732520" y="4974336"/>
              <a:ext cx="1097280" cy="237744"/>
            </a:xfrm>
            <a:prstGeom prst="rect">
              <a:avLst/>
            </a:prstGeom>
            <a:noFill/>
            <a:ln/>
          </p:spPr>
          <p:txBody>
            <a:bodyPr wrap="square" lIns="0" tIns="50800" rIns="2540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212121"/>
                  </a:solidFill>
                </a:rPr>
                <a:t>    CO₂</a:t>
              </a:r>
              <a:endParaRPr lang="en-US" sz="900" dirty="0"/>
            </a:p>
          </p:txBody>
        </p:sp>
        <p:sp>
          <p:nvSpPr>
            <p:cNvPr id="78" name="Text 76"/>
            <p:cNvSpPr/>
            <p:nvPr/>
          </p:nvSpPr>
          <p:spPr>
            <a:xfrm>
              <a:off x="8732520" y="5212080"/>
              <a:ext cx="1097280" cy="237744"/>
            </a:xfrm>
            <a:prstGeom prst="rect">
              <a:avLst/>
            </a:prstGeom>
            <a:noFill/>
            <a:ln/>
          </p:spPr>
          <p:txBody>
            <a:bodyPr wrap="square" lIns="0" tIns="50800" rIns="2540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212121"/>
                  </a:solidFill>
                </a:rPr>
                <a:t>    N₂</a:t>
              </a:r>
              <a:endParaRPr lang="en-US" sz="900" dirty="0"/>
            </a:p>
          </p:txBody>
        </p:sp>
        <p:sp>
          <p:nvSpPr>
            <p:cNvPr id="82" name="Text 80"/>
            <p:cNvSpPr/>
            <p:nvPr/>
          </p:nvSpPr>
          <p:spPr>
            <a:xfrm>
              <a:off x="8732520" y="5449824"/>
              <a:ext cx="1097280" cy="237744"/>
            </a:xfrm>
            <a:prstGeom prst="rect">
              <a:avLst/>
            </a:prstGeom>
            <a:noFill/>
            <a:ln/>
          </p:spPr>
          <p:txBody>
            <a:bodyPr wrap="square" lIns="0" tIns="50800" rIns="2540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212121"/>
                  </a:solidFill>
                </a:rPr>
                <a:t>    Avg MW</a:t>
              </a:r>
              <a:endParaRPr lang="en-US" sz="900" dirty="0"/>
            </a:p>
          </p:txBody>
        </p:sp>
        <p:sp>
          <p:nvSpPr>
            <p:cNvPr id="93" name="Shape 91"/>
            <p:cNvSpPr/>
            <p:nvPr/>
          </p:nvSpPr>
          <p:spPr>
            <a:xfrm>
              <a:off x="4663440" y="4617720"/>
              <a:ext cx="3283527" cy="1051560"/>
            </a:xfrm>
            <a:prstGeom prst="rect">
              <a:avLst/>
            </a:prstGeom>
            <a:solidFill>
              <a:srgbClr val="FFF8E1"/>
            </a:solidFill>
            <a:ln w="9525">
              <a:solidFill>
                <a:srgbClr val="F57F1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Text 92"/>
            <p:cNvSpPr/>
            <p:nvPr/>
          </p:nvSpPr>
          <p:spPr>
            <a:xfrm>
              <a:off x="4663440" y="4617720"/>
              <a:ext cx="3283527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E65100"/>
                  </a:solidFill>
                </a:rPr>
                <a:t>Design Spec: GAS-RATE</a:t>
              </a:r>
              <a:endParaRPr lang="en-US" sz="1000" dirty="0"/>
            </a:p>
          </p:txBody>
        </p:sp>
        <p:sp>
          <p:nvSpPr>
            <p:cNvPr id="95" name="Text 93"/>
            <p:cNvSpPr/>
            <p:nvPr/>
          </p:nvSpPr>
          <p:spPr>
            <a:xfrm>
              <a:off x="4754880" y="4892040"/>
              <a:ext cx="37490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BF360C"/>
                  </a:solidFill>
                </a:rPr>
                <a:t>Target: 	170,000 Nm³/day S-RAWGAS (STDVOL)</a:t>
              </a:r>
              <a:endParaRPr lang="en-US" sz="850" dirty="0"/>
            </a:p>
          </p:txBody>
        </p:sp>
        <p:sp>
          <p:nvSpPr>
            <p:cNvPr id="96" name="Text 94"/>
            <p:cNvSpPr/>
            <p:nvPr/>
          </p:nvSpPr>
          <p:spPr>
            <a:xfrm>
              <a:off x="4754880" y="5074920"/>
              <a:ext cx="37490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BF360C"/>
                  </a:solidFill>
                </a:rPr>
                <a:t>Tolerance: 	±1,700 Nm³/day (1%)</a:t>
              </a:r>
              <a:endParaRPr lang="en-US" sz="850" dirty="0"/>
            </a:p>
          </p:txBody>
        </p:sp>
        <p:sp>
          <p:nvSpPr>
            <p:cNvPr id="97" name="Text 95"/>
            <p:cNvSpPr/>
            <p:nvPr/>
          </p:nvSpPr>
          <p:spPr>
            <a:xfrm>
              <a:off x="4754880" y="5257800"/>
              <a:ext cx="37490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BF360C"/>
                  </a:solidFill>
                </a:rPr>
                <a:t>Vary: 	S-STEAM flow (4,000–9,000 kg/hr)</a:t>
              </a:r>
              <a:endParaRPr lang="en-US" sz="850" dirty="0"/>
            </a:p>
          </p:txBody>
        </p:sp>
        <p:sp>
          <p:nvSpPr>
            <p:cNvPr id="98" name="Text 96"/>
            <p:cNvSpPr/>
            <p:nvPr/>
          </p:nvSpPr>
          <p:spPr>
            <a:xfrm>
              <a:off x="4754880" y="5440680"/>
              <a:ext cx="37490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BF360C"/>
                  </a:solidFill>
                </a:rPr>
                <a:t>Converged: 	9,000 kg/hr  |  Error: −338 Nm³/day ✓</a:t>
              </a:r>
              <a:endParaRPr lang="en-US" sz="850" dirty="0"/>
            </a:p>
          </p:txBody>
        </p:sp>
      </p:grpSp>
      <p:grpSp>
        <p:nvGrpSpPr>
          <p:cNvPr id="5010" name="Legend"/>
          <p:cNvGrpSpPr/>
          <p:nvPr/>
        </p:nvGrpSpPr>
        <p:grpSpPr>
          <a:xfrm>
            <a:off x="137160" y="5870448"/>
            <a:ext cx="11795760" cy="713232"/>
            <a:chOff x="137160" y="5870448"/>
            <a:chExt cx="11795760" cy="713232"/>
          </a:xfrm>
        </p:grpSpPr>
        <p:sp>
          <p:nvSpPr>
            <p:cNvPr id="99" name="Shape 97"/>
            <p:cNvSpPr/>
            <p:nvPr/>
          </p:nvSpPr>
          <p:spPr>
            <a:xfrm>
              <a:off x="137160" y="5870448"/>
              <a:ext cx="11795760" cy="713232"/>
            </a:xfrm>
            <a:prstGeom prst="rect">
              <a:avLst/>
            </a:prstGeom>
            <a:solidFill>
              <a:srgbClr val="ECEFF1"/>
            </a:solidFill>
            <a:ln w="6350">
              <a:solidFill>
                <a:srgbClr val="B0BEC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Text 98"/>
            <p:cNvSpPr/>
            <p:nvPr/>
          </p:nvSpPr>
          <p:spPr>
            <a:xfrm>
              <a:off x="228600" y="5916168"/>
              <a:ext cx="8229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212121"/>
                  </a:solidFill>
                </a:rPr>
                <a:t>Legend:</a:t>
              </a:r>
              <a:endParaRPr lang="en-US" sz="950" dirty="0"/>
            </a:p>
          </p:txBody>
        </p:sp>
        <p:sp>
          <p:nvSpPr>
            <p:cNvPr id="101" name="Shape 99"/>
            <p:cNvSpPr/>
            <p:nvPr/>
          </p:nvSpPr>
          <p:spPr>
            <a:xfrm>
              <a:off x="1097280" y="5961888"/>
              <a:ext cx="201168" cy="201168"/>
            </a:xfrm>
            <a:prstGeom prst="rect">
              <a:avLst/>
            </a:prstGeom>
            <a:solidFill>
              <a:srgbClr val="7B68EE"/>
            </a:solidFill>
            <a:ln w="6350">
              <a:solidFill>
                <a:srgbClr val="7B68E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Text 100"/>
            <p:cNvSpPr/>
            <p:nvPr/>
          </p:nvSpPr>
          <p:spPr>
            <a:xfrm>
              <a:off x="1344168" y="5952744"/>
              <a:ext cx="14173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12121"/>
                  </a:solidFill>
                </a:rPr>
                <a:t>R-101 RYIELD (coal decomp.)</a:t>
              </a:r>
              <a:endParaRPr lang="en-US" sz="900" dirty="0"/>
            </a:p>
          </p:txBody>
        </p:sp>
        <p:sp>
          <p:nvSpPr>
            <p:cNvPr id="103" name="Shape 101"/>
            <p:cNvSpPr/>
            <p:nvPr/>
          </p:nvSpPr>
          <p:spPr>
            <a:xfrm>
              <a:off x="3520440" y="5961888"/>
              <a:ext cx="201168" cy="201168"/>
            </a:xfrm>
            <a:prstGeom prst="rect">
              <a:avLst/>
            </a:prstGeom>
            <a:solidFill>
              <a:srgbClr val="455A64"/>
            </a:solidFill>
            <a:ln w="6350">
              <a:solidFill>
                <a:srgbClr val="455A6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Text 102"/>
            <p:cNvSpPr/>
            <p:nvPr/>
          </p:nvSpPr>
          <p:spPr>
            <a:xfrm>
              <a:off x="3767328" y="5952744"/>
              <a:ext cx="14173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12121"/>
                  </a:solidFill>
                </a:rPr>
                <a:t>M-101 Mixer</a:t>
              </a:r>
              <a:endParaRPr lang="en-US" sz="900" dirty="0"/>
            </a:p>
          </p:txBody>
        </p:sp>
        <p:sp>
          <p:nvSpPr>
            <p:cNvPr id="105" name="Shape 103"/>
            <p:cNvSpPr/>
            <p:nvPr/>
          </p:nvSpPr>
          <p:spPr>
            <a:xfrm>
              <a:off x="5166360" y="5961888"/>
              <a:ext cx="201168" cy="201168"/>
            </a:xfrm>
            <a:prstGeom prst="rect">
              <a:avLst/>
            </a:prstGeom>
            <a:solidFill>
              <a:srgbClr val="1565C0"/>
            </a:solidFill>
            <a:ln w="6350">
              <a:solidFill>
                <a:srgbClr val="1565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Text 104"/>
            <p:cNvSpPr/>
            <p:nvPr/>
          </p:nvSpPr>
          <p:spPr>
            <a:xfrm>
              <a:off x="5413248" y="5952744"/>
              <a:ext cx="14173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12121"/>
                  </a:solidFill>
                </a:rPr>
                <a:t>R-201 RGIBBS (gasifier)</a:t>
              </a:r>
              <a:endParaRPr lang="en-US" sz="900" dirty="0"/>
            </a:p>
          </p:txBody>
        </p:sp>
        <p:sp>
          <p:nvSpPr>
            <p:cNvPr id="107" name="Shape 105"/>
            <p:cNvSpPr/>
            <p:nvPr/>
          </p:nvSpPr>
          <p:spPr>
            <a:xfrm>
              <a:off x="7178040" y="5961888"/>
              <a:ext cx="201168" cy="201168"/>
            </a:xfrm>
            <a:prstGeom prst="rect">
              <a:avLst/>
            </a:prstGeom>
            <a:solidFill>
              <a:srgbClr val="5D4037"/>
            </a:solidFill>
            <a:ln w="6350">
              <a:solidFill>
                <a:srgbClr val="5D403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Text 106"/>
            <p:cNvSpPr/>
            <p:nvPr/>
          </p:nvSpPr>
          <p:spPr>
            <a:xfrm>
              <a:off x="7424928" y="5952744"/>
              <a:ext cx="14173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12121"/>
                  </a:solidFill>
                </a:rPr>
                <a:t>Coal stream</a:t>
              </a:r>
              <a:endParaRPr lang="en-US" sz="900" dirty="0"/>
            </a:p>
          </p:txBody>
        </p:sp>
        <p:sp>
          <p:nvSpPr>
            <p:cNvPr id="109" name="Shape 107"/>
            <p:cNvSpPr/>
            <p:nvPr/>
          </p:nvSpPr>
          <p:spPr>
            <a:xfrm>
              <a:off x="8641080" y="5961888"/>
              <a:ext cx="201168" cy="201168"/>
            </a:xfrm>
            <a:prstGeom prst="rect">
              <a:avLst/>
            </a:prstGeom>
            <a:solidFill>
              <a:srgbClr val="1565C0"/>
            </a:solidFill>
            <a:ln w="6350">
              <a:solidFill>
                <a:srgbClr val="1565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Text 108"/>
            <p:cNvSpPr/>
            <p:nvPr/>
          </p:nvSpPr>
          <p:spPr>
            <a:xfrm>
              <a:off x="8887968" y="5952744"/>
              <a:ext cx="14173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12121"/>
                  </a:solidFill>
                </a:rPr>
                <a:t>Steam stream</a:t>
              </a:r>
              <a:endParaRPr lang="en-US" sz="900" dirty="0"/>
            </a:p>
          </p:txBody>
        </p:sp>
        <p:sp>
          <p:nvSpPr>
            <p:cNvPr id="111" name="Shape 109"/>
            <p:cNvSpPr/>
            <p:nvPr/>
          </p:nvSpPr>
          <p:spPr>
            <a:xfrm>
              <a:off x="10104120" y="5961888"/>
              <a:ext cx="201168" cy="201168"/>
            </a:xfrm>
            <a:prstGeom prst="rect">
              <a:avLst/>
            </a:prstGeom>
            <a:solidFill>
              <a:srgbClr val="2E7D32"/>
            </a:solidFill>
            <a:ln w="635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Text 110"/>
            <p:cNvSpPr/>
            <p:nvPr/>
          </p:nvSpPr>
          <p:spPr>
            <a:xfrm>
              <a:off x="10351008" y="5952744"/>
              <a:ext cx="14173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12121"/>
                  </a:solidFill>
                </a:rPr>
                <a:t>Gas stream</a:t>
              </a:r>
              <a:endParaRPr lang="en-US" sz="900" dirty="0"/>
            </a:p>
          </p:txBody>
        </p:sp>
        <p:sp>
          <p:nvSpPr>
            <p:cNvPr id="113" name="Text 111"/>
            <p:cNvSpPr/>
            <p:nvPr/>
          </p:nvSpPr>
          <p:spPr>
            <a:xfrm>
              <a:off x="137160" y="6327648"/>
              <a:ext cx="1179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i="1" dirty="0">
                  <a:solidFill>
                    <a:srgbClr val="546E7A"/>
                  </a:solidFill>
                </a:rPr>
                <a:t>Property method: PR-BM  |  Stream class: MIXCINC  |  Enthalpy: HCOALGEN  |  Density: DCOALIGT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307</Words>
  <Application>Microsoft Office PowerPoint</Application>
  <PresentationFormat>Widescreen</PresentationFormat>
  <Paragraphs>74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Courier New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Mark Heien</cp:lastModifiedBy>
  <cp:revision>2</cp:revision>
  <dcterms:created xsi:type="dcterms:W3CDTF">2026-05-02T00:28:53Z</dcterms:created>
  <dcterms:modified xsi:type="dcterms:W3CDTF">2026-05-02T00:53:37Z</dcterms:modified>
</cp:coreProperties>
</file>